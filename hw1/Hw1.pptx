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39"/>
  </p:notesMasterIdLst>
  <p:sldIdLst>
    <p:sldId id="262" r:id="rId2"/>
    <p:sldId id="263" r:id="rId3"/>
    <p:sldId id="270" r:id="rId4"/>
    <p:sldId id="264" r:id="rId5"/>
    <p:sldId id="276" r:id="rId6"/>
    <p:sldId id="319" r:id="rId7"/>
    <p:sldId id="318" r:id="rId8"/>
    <p:sldId id="271" r:id="rId9"/>
    <p:sldId id="274" r:id="rId10"/>
    <p:sldId id="275" r:id="rId11"/>
    <p:sldId id="277" r:id="rId12"/>
    <p:sldId id="278" r:id="rId13"/>
    <p:sldId id="279" r:id="rId14"/>
    <p:sldId id="301" r:id="rId15"/>
    <p:sldId id="293" r:id="rId16"/>
    <p:sldId id="294" r:id="rId17"/>
    <p:sldId id="292" r:id="rId18"/>
    <p:sldId id="302" r:id="rId19"/>
    <p:sldId id="303" r:id="rId20"/>
    <p:sldId id="304" r:id="rId21"/>
    <p:sldId id="305" r:id="rId22"/>
    <p:sldId id="300" r:id="rId23"/>
    <p:sldId id="306" r:id="rId24"/>
    <p:sldId id="308" r:id="rId25"/>
    <p:sldId id="322" r:id="rId26"/>
    <p:sldId id="296" r:id="rId27"/>
    <p:sldId id="312" r:id="rId28"/>
    <p:sldId id="309" r:id="rId29"/>
    <p:sldId id="310" r:id="rId30"/>
    <p:sldId id="311" r:id="rId31"/>
    <p:sldId id="320" r:id="rId32"/>
    <p:sldId id="323" r:id="rId33"/>
    <p:sldId id="313" r:id="rId34"/>
    <p:sldId id="314" r:id="rId35"/>
    <p:sldId id="315" r:id="rId36"/>
    <p:sldId id="316" r:id="rId37"/>
    <p:sldId id="324" r:id="rId38"/>
  </p:sldIdLst>
  <p:sldSz cx="12192000" cy="6858000"/>
  <p:notesSz cx="6858000" cy="9144000"/>
  <p:embeddedFontLst>
    <p:embeddedFont>
      <p:font typeface="Wingdings 2" panose="05020102010507070707" pitchFamily="18" charset="2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61Lh1EPHOy66CuvdaUrwKo1g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34"/>
    <a:srgbClr val="009A46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515" autoAdjust="0"/>
  </p:normalViewPr>
  <p:slideViewPr>
    <p:cSldViewPr snapToGrid="0">
      <p:cViewPr varScale="1">
        <p:scale>
          <a:sx n="92" d="100"/>
          <a:sy n="92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884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579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5517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535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3854-BC64-2477-8712-30B98A72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65A3A5-45F2-1BE9-7CA2-2475E417C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C2E9505-5411-8A26-E7DB-7A53B144B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4950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4516-3D2E-53BA-5B41-50897862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F4DBAF-1936-2727-137F-C86B5934D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208BF8-5BB5-A0E5-C465-E403A075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165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28017-8322-1A97-C681-781DCFA3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CD42CEA-6381-9D56-B6A0-07F2B413A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5B9D4B-49C7-4A64-0CC7-D4ABF9836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8342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2768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E35C-1328-F249-3929-84333E25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25C648-DCC5-4182-517A-C9C3AB854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8FBD0F-B8EF-0D0D-226C-0FDB3D517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7777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B9D6-C0BE-290B-85A0-70B72B54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727D60B-78C0-534D-629B-514FE5142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71C33BE-0077-FE1A-A247-9BFC3811B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84794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6469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063F-70E3-1B77-C28F-C568DFDC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F64B2B-2876-2495-6A4C-8210C0A18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F4DC6F-77E6-8CFC-937F-4E4DC92CB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82967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5702-3EE2-E863-2C57-761DB023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58D3A5-05ED-8BAC-0175-505DB0BC5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ECD50AB-392B-A575-FFB3-11851FCC3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6346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9308-6828-C3D8-7938-1E292F91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08EBB9-16F2-3DEB-E779-1222EA271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20EF213-1131-7CEE-CF6F-DB30935F4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5641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9E18-3935-D054-1550-CDB880D6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00227-6A0A-4DD8-5612-50F792CE6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694CBE6-C603-A1E9-4CF2-926195F77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3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A3FE-0B23-E318-2532-57CD93AD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7336FA-2F5F-CBD5-7AB9-40CA9606B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89C643-1032-D99C-5BC0-3391158A9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6467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CAD4-3496-84F7-E63C-58D47AF9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540AB0-417B-CCB9-B2CD-E0DC3535D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AEEC6D-B7EA-FC63-0E19-028881736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0808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0C56-5C2B-D2BB-FF71-515EF123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2B2853-A59D-F0A5-79A4-605C52114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C18C25-D04F-2219-ED14-9C51F20EB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8169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CA57-7AAC-D6C3-53C2-DD83F2C9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6719597-326C-D594-71BE-A2C6205DA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7278A6-1216-56B0-43A4-C5091ECDA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3050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5008-86A8-9071-07F4-F225F31C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0A4C516-1FF3-32C8-7E27-5739316BA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54F3F9-AEE9-DC7D-92FC-6EBAA6C82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794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622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870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379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50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020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721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76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238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27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371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475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781396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603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52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567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883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120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39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search?q=.obj&amp;type=models" TargetMode="External"/><Relationship Id="rId2" Type="http://schemas.openxmlformats.org/officeDocument/2006/relationships/hyperlink" Target="https://free3d.com/3d-models/obj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graphics.csie.ncku.edu.tw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slide" Target="slide19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8.svg"/><Relationship Id="rId4" Type="http://schemas.openxmlformats.org/officeDocument/2006/relationships/slide" Target="slide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C91DC0-B337-7B53-1C11-AFF134CD64F2}"/>
              </a:ext>
            </a:extLst>
          </p:cNvPr>
          <p:cNvSpPr txBox="1"/>
          <p:nvPr/>
        </p:nvSpPr>
        <p:spPr>
          <a:xfrm>
            <a:off x="2783959" y="1307513"/>
            <a:ext cx="6624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Computer Graphic</a:t>
            </a:r>
          </a:p>
          <a:p>
            <a:pPr algn="ctr"/>
            <a:r>
              <a:rPr lang="en-US" altLang="zh-TW" sz="6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Homework 1</a:t>
            </a:r>
            <a:endParaRPr lang="zh-TW" altLang="en-US" sz="60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73AF037-4328-84CD-0F35-01DE5CB877E7}"/>
              </a:ext>
            </a:extLst>
          </p:cNvPr>
          <p:cNvSpPr txBox="1"/>
          <p:nvPr/>
        </p:nvSpPr>
        <p:spPr>
          <a:xfrm>
            <a:off x="3763818" y="4183678"/>
            <a:ext cx="4664364" cy="138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500"/>
              </a:lnSpc>
            </a:pPr>
            <a:r>
              <a:rPr lang="zh-TW" alt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梁家葳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P76144540@gs.ncku.edu.tw</a:t>
            </a:r>
          </a:p>
          <a:p>
            <a:pPr algn="ctr">
              <a:lnSpc>
                <a:spcPts val="3500"/>
              </a:lnSpc>
            </a:pPr>
            <a:r>
              <a:rPr lang="zh-TW" alt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曾紹宇 </a:t>
            </a:r>
            <a:r>
              <a:rPr lang="en-US" altLang="zh-TW"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P76144304@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gs.ncku.edu.tw</a:t>
            </a:r>
          </a:p>
          <a:p>
            <a:pPr algn="ctr">
              <a:lnSpc>
                <a:spcPts val="3500"/>
              </a:lnSpc>
            </a:pPr>
            <a:r>
              <a:rPr lang="zh-TW" alt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實驗室：資訊新館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65701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74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A32F4791-83A4-6315-7BE1-429F00420BC4}"/>
              </a:ext>
            </a:extLst>
          </p:cNvPr>
          <p:cNvSpPr txBox="1"/>
          <p:nvPr/>
        </p:nvSpPr>
        <p:spPr>
          <a:xfrm>
            <a:off x="1142377" y="1929889"/>
            <a:ext cx="9152329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Write an OpenGL application with the following features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Load and render the 3d model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Render the model with the texture</a:t>
            </a:r>
          </a:p>
          <a:p>
            <a:pPr>
              <a:lnSpc>
                <a:spcPts val="4000"/>
              </a:lnSpc>
              <a:buClr>
                <a:schemeClr val="tx2"/>
              </a:buClr>
            </a:pP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ts val="4500"/>
              </a:lnSpc>
              <a:buClr>
                <a:schemeClr val="tx2"/>
              </a:buClr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Requirements</a:t>
            </a:r>
            <a:endParaRPr lang="en-US" altLang="zh-TW" sz="28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You can modify the sample code (recommend) or write your own code.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No limitation on Programming Language (sample is written in C++)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No limitation on Operating System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63F8E1E-2277-5678-D747-8041E53FF18B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408309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F7CE-9699-4310-BB73-2016CEE7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1017B81B-A3EF-7060-7028-C17CF0A67364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Example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pic>
        <p:nvPicPr>
          <p:cNvPr id="2" name="basic">
            <a:hlinkClick r:id="" action="ppaction://media"/>
            <a:extLst>
              <a:ext uri="{FF2B5EF4-FFF2-40B4-BE49-F238E27FC236}">
                <a16:creationId xmlns:a16="http://schemas.microsoft.com/office/drawing/2014/main" id="{F501C9F1-FCEA-5CF8-4649-82C58E69AD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27859" y="1059873"/>
            <a:ext cx="9736282" cy="54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2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99ECE250-4D74-0E75-1E59-967F90302B75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Submission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E07A8B0-ADE4-364A-8F79-6A844408CD66}"/>
              </a:ext>
            </a:extLst>
          </p:cNvPr>
          <p:cNvSpPr txBox="1"/>
          <p:nvPr/>
        </p:nvSpPr>
        <p:spPr>
          <a:xfrm>
            <a:off x="1142377" y="1929889"/>
            <a:ext cx="9101470" cy="3979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Compress your file into &lt;student ID&gt;_&lt;student Name&gt;.zip</a:t>
            </a:r>
          </a:p>
          <a:p>
            <a:pPr marL="342900" lvl="1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e.g., P76144540_</a:t>
            </a:r>
            <a:r>
              <a:rPr lang="zh-TW" altLang="en-US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梁家葳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.zip</a:t>
            </a:r>
          </a:p>
          <a:p>
            <a:pPr lvl="1">
              <a:buClr>
                <a:schemeClr val="tx2"/>
              </a:buClr>
            </a:pP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ts val="4500"/>
              </a:lnSpc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Your zip file should include</a:t>
            </a:r>
          </a:p>
          <a:p>
            <a:pPr marL="342900" lvl="3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Source Code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 (Modified Only)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342900" lvl="1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Demo Video 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n-lt"/>
                <a:ea typeface="+mn-ea"/>
                <a:cs typeface="+mn-cs"/>
              </a:rPr>
              <a:t>(Scoring heavily depends on the demo video)</a:t>
            </a:r>
          </a:p>
          <a:p>
            <a:pPr marL="342900" lvl="1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Report (pdf)</a:t>
            </a:r>
          </a:p>
          <a:p>
            <a:pPr lvl="1">
              <a:buClr>
                <a:schemeClr val="tx2"/>
              </a:buClr>
            </a:pP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ts val="4500"/>
              </a:lnSpc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Upload to Moodle</a:t>
            </a:r>
          </a:p>
        </p:txBody>
      </p:sp>
    </p:spTree>
    <p:extLst>
      <p:ext uri="{BB962C8B-B14F-4D97-AF65-F5344CB8AC3E}">
        <p14:creationId xmlns:p14="http://schemas.microsoft.com/office/powerpoint/2010/main" val="51589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4D58-4EDE-E0D9-6E02-01748140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C89D193-3E9A-2DB5-44CC-29B2619CAEEE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Scoring Standard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38FE8B7-EC52-62FC-860F-5E6F5288E933}"/>
              </a:ext>
            </a:extLst>
          </p:cNvPr>
          <p:cNvSpPr txBox="1"/>
          <p:nvPr/>
        </p:nvSpPr>
        <p:spPr>
          <a:xfrm>
            <a:off x="1142377" y="1929889"/>
            <a:ext cx="3907605" cy="381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Submitted on time</a:t>
            </a: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basic score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70</a:t>
            </a: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each bonus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+3 or +5  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report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+1~3</a:t>
            </a:r>
          </a:p>
          <a:p>
            <a:pPr marL="457200" indent="-457200">
              <a:lnSpc>
                <a:spcPts val="45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Late submission</a:t>
            </a: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final score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* 0.7</a:t>
            </a:r>
          </a:p>
          <a:p>
            <a:pPr marL="457200" indent="-457200">
              <a:lnSpc>
                <a:spcPts val="45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Incomplete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50</a:t>
            </a:r>
          </a:p>
          <a:p>
            <a:pPr marL="457200" indent="-457200">
              <a:lnSpc>
                <a:spcPts val="45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Not submitted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7769C-B3F1-53AE-528F-7C1CBADEEA8E}"/>
              </a:ext>
            </a:extLst>
          </p:cNvPr>
          <p:cNvSpPr txBox="1"/>
          <p:nvPr/>
        </p:nvSpPr>
        <p:spPr>
          <a:xfrm>
            <a:off x="6911252" y="3223256"/>
            <a:ext cx="346450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6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TW" altLang="en-US" sz="6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lagiarism</a:t>
            </a:r>
          </a:p>
          <a:p>
            <a:pPr algn="ctr"/>
            <a:endParaRPr lang="zh-TW" altLang="en-US" dirty="0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AFDAB1B7-87ED-7361-F94C-FD36438DE621}"/>
              </a:ext>
            </a:extLst>
          </p:cNvPr>
          <p:cNvSpPr/>
          <p:nvPr/>
        </p:nvSpPr>
        <p:spPr>
          <a:xfrm>
            <a:off x="6911252" y="2106557"/>
            <a:ext cx="3464504" cy="3464504"/>
          </a:xfrm>
          <a:prstGeom prst="ellipse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0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33A3622-C358-92FF-DC31-09F39989D8F7}"/>
              </a:ext>
            </a:extLst>
          </p:cNvPr>
          <p:cNvCxnSpPr>
            <a:cxnSpLocks/>
            <a:stCxn id="2" idx="1"/>
            <a:endCxn id="2" idx="5"/>
          </p:cNvCxnSpPr>
          <p:nvPr/>
        </p:nvCxnSpPr>
        <p:spPr>
          <a:xfrm>
            <a:off x="7418617" y="2613922"/>
            <a:ext cx="2449774" cy="2449774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77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E380-7FC9-FE30-2A6F-C7D74E54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0D11D66-1B55-3185-BE54-EC5AB8485F14}"/>
              </a:ext>
            </a:extLst>
          </p:cNvPr>
          <p:cNvSpPr txBox="1"/>
          <p:nvPr/>
        </p:nvSpPr>
        <p:spPr>
          <a:xfrm>
            <a:off x="2575213" y="126271"/>
            <a:ext cx="7041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Modification Instructions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47FAE80-65D9-3629-F3FB-02752E48B0FE}"/>
              </a:ext>
            </a:extLst>
          </p:cNvPr>
          <p:cNvSpPr txBox="1"/>
          <p:nvPr/>
        </p:nvSpPr>
        <p:spPr>
          <a:xfrm>
            <a:off x="1142377" y="1929889"/>
            <a:ext cx="984081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Only five files </a:t>
            </a: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need to be modified for this homework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lvl="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OpenGLShader.cpp </a:t>
            </a:r>
          </a:p>
          <a:p>
            <a:pPr marL="342900" lvl="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OpenGLTexture.cpp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OpenGLBufferObject.cpp 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OpenGLShaderProgram.cpp </a:t>
            </a:r>
          </a:p>
          <a:p>
            <a:pPr marL="342900" lvl="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OpenGLVertexArrayObject.cpp 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0">
              <a:buClr>
                <a:schemeClr val="tx2"/>
              </a:buClr>
            </a:pP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ts val="4500"/>
              </a:lnSpc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Find the </a:t>
            </a: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// Fill in the blank </a:t>
            </a: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Sections </a:t>
            </a:r>
            <a:endParaRPr lang="en-US" altLang="zh-TW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Write the relevant OpenGL functions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See the corresponding .hpp file for function descriptions and object IDs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31F7B44-6A59-410F-AD32-62CB42840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453" y="2855051"/>
            <a:ext cx="5510957" cy="17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2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850D-F4A0-8019-86EC-DDCD7898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CDBEFF4-B06B-BECE-BA8F-DC10BA24E197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Homework1 Bonus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5BF237-CE68-7D13-7D56-AE7E50967DD5}"/>
              </a:ext>
            </a:extLst>
          </p:cNvPr>
          <p:cNvSpPr txBox="1"/>
          <p:nvPr/>
        </p:nvSpPr>
        <p:spPr>
          <a:xfrm>
            <a:off x="1142377" y="2008033"/>
            <a:ext cx="47590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 Basic Bonus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es 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+3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(up to 4)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>
              <a:buClr>
                <a:schemeClr val="tx2"/>
              </a:buClr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change Camera Position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change Look At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…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06C4BB7-CB61-C62C-41D1-59BEE64E3E99}"/>
              </a:ext>
            </a:extLst>
          </p:cNvPr>
          <p:cNvSpPr txBox="1"/>
          <p:nvPr/>
        </p:nvSpPr>
        <p:spPr>
          <a:xfrm>
            <a:off x="1142377" y="3639249"/>
            <a:ext cx="528266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Advanced</a:t>
            </a: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Bonus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es</a:t>
            </a:r>
            <a:r>
              <a:rPr lang="zh-TW" altLang="en-US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n-lt"/>
                <a:ea typeface="+mn-ea"/>
                <a:cs typeface="+mn-cs"/>
              </a:rPr>
              <a:t>+5 (only 2)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>
              <a:buClr>
                <a:schemeClr val="tx2"/>
              </a:buClr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change model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	change texture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AAAD242-4857-8CB5-05D0-7A51ECB056DE}"/>
              </a:ext>
            </a:extLst>
          </p:cNvPr>
          <p:cNvSpPr txBox="1"/>
          <p:nvPr/>
        </p:nvSpPr>
        <p:spPr>
          <a:xfrm>
            <a:off x="1142377" y="5162069"/>
            <a:ext cx="89727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Relevant model and texture examples are available</a:t>
            </a:r>
            <a:r>
              <a:rPr lang="zh-TW" altLang="en-US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at the following link.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https://free3d.com/3d-models/obj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https://sketchfab.com/search?q=.obj&amp;type=models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11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8039-44A9-E4D6-3D74-1A1CEAE8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4CA18C5-14CA-E09D-A918-3FB15968FB36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Deadline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A47FBB-10CE-7ABD-8CB9-2952ACCEEAFE}"/>
              </a:ext>
            </a:extLst>
          </p:cNvPr>
          <p:cNvSpPr txBox="1"/>
          <p:nvPr/>
        </p:nvSpPr>
        <p:spPr>
          <a:xfrm>
            <a:off x="3541125" y="2555471"/>
            <a:ext cx="5109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10/05 (Mon</a:t>
            </a:r>
            <a:r>
              <a:rPr lang="en-US" altLang="zh-TW" sz="4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.) 12:00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B12BC44-EFA1-8C08-4E51-A6CFF391DDE4}"/>
              </a:ext>
            </a:extLst>
          </p:cNvPr>
          <p:cNvSpPr txBox="1"/>
          <p:nvPr/>
        </p:nvSpPr>
        <p:spPr>
          <a:xfrm>
            <a:off x="1398998" y="4562912"/>
            <a:ext cx="93940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TAs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will post the scores on Moodle. If you have any questions 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a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bout your score, please email the TA as soon as possible.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Late submission deadline 10/18 (Sun.) 23:59  </a:t>
            </a:r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(two weeks after the deadline)</a:t>
            </a:r>
            <a:endParaRPr lang="zh-TW" altLang="en-US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27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D044-45A4-D317-508E-C16D9A7B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46658D1E-3736-EAC4-C52E-D5B9E4239E69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Demo Video Example</a:t>
            </a:r>
          </a:p>
        </p:txBody>
      </p:sp>
      <p:pic>
        <p:nvPicPr>
          <p:cNvPr id="2" name="bonus">
            <a:hlinkClick r:id="" action="ppaction://media"/>
            <a:extLst>
              <a:ext uri="{FF2B5EF4-FFF2-40B4-BE49-F238E27FC236}">
                <a16:creationId xmlns:a16="http://schemas.microsoft.com/office/drawing/2014/main" id="{E90BCD97-2746-2340-0BE1-72FB3EEB54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8318" y="1685624"/>
            <a:ext cx="7983682" cy="449667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B7894A9-009D-A603-504F-430019CD4937}"/>
              </a:ext>
            </a:extLst>
          </p:cNvPr>
          <p:cNvSpPr txBox="1"/>
          <p:nvPr/>
        </p:nvSpPr>
        <p:spPr>
          <a:xfrm>
            <a:off x="361824" y="1904372"/>
            <a:ext cx="4023140" cy="17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video 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include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to run the program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3D model with texture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CN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Bonus</a:t>
            </a:r>
            <a:endParaRPr lang="zh-TW" altLang="en-US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34A150C-2328-4459-F38A-FECE697FB0F8}"/>
              </a:ext>
            </a:extLst>
          </p:cNvPr>
          <p:cNvSpPr txBox="1"/>
          <p:nvPr/>
        </p:nvSpPr>
        <p:spPr>
          <a:xfrm>
            <a:off x="361824" y="6270063"/>
            <a:ext cx="5519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n-lt"/>
                <a:ea typeface="+mn-ea"/>
                <a:cs typeface="+mn-cs"/>
              </a:rPr>
              <a:t>Scoring heavily depends on the demo video</a:t>
            </a:r>
          </a:p>
        </p:txBody>
      </p:sp>
    </p:spTree>
    <p:extLst>
      <p:ext uri="{BB962C8B-B14F-4D97-AF65-F5344CB8AC3E}">
        <p14:creationId xmlns:p14="http://schemas.microsoft.com/office/powerpoint/2010/main" val="368792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6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EE00-1D25-D72F-76C1-80F2F79C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F5419729-0232-6FF1-E764-FD0114156F9A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Report PDF Example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F38B769-EB06-B30D-E253-6898C25FC099}"/>
              </a:ext>
            </a:extLst>
          </p:cNvPr>
          <p:cNvSpPr txBox="1"/>
          <p:nvPr/>
        </p:nvSpPr>
        <p:spPr>
          <a:xfrm>
            <a:off x="361824" y="4548276"/>
            <a:ext cx="4175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</a:rPr>
              <a:t>Please write in English/Chinese.</a:t>
            </a:r>
            <a:endParaRPr lang="zh-TW" altLang="en-US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1D3E14-8418-68DF-BFF7-4B5FA852D049}"/>
              </a:ext>
            </a:extLst>
          </p:cNvPr>
          <p:cNvSpPr txBox="1"/>
          <p:nvPr/>
        </p:nvSpPr>
        <p:spPr>
          <a:xfrm>
            <a:off x="361824" y="1904372"/>
            <a:ext cx="4175193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zh-TW" altLang="zh-TW" sz="2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report should contain</a:t>
            </a:r>
            <a:endParaRPr lang="en-US" altLang="zh-TW" sz="2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1. Environment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</a:rPr>
              <a:t>2. Method Description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</a:rPr>
              <a:t>3. Bonus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</a:rPr>
              <a:t>4. How to run the program</a:t>
            </a:r>
          </a:p>
          <a:p>
            <a:pPr>
              <a:buClr>
                <a:schemeClr val="tx2"/>
              </a:buClr>
            </a:pP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</a:rPr>
              <a:t>5. 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j-ea"/>
              </a:rPr>
              <a:t>AI Usage</a:t>
            </a:r>
            <a:endParaRPr lang="en-US" altLang="zh-TW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CBC168E-93FA-98B9-0FA5-8C4A701B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050" y="1354410"/>
            <a:ext cx="6593951" cy="515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5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1C62-7E5B-9D73-DC19-9FC6744D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17EFECE-FD3D-FBF4-4DD0-0CF1EC55843E}"/>
              </a:ext>
            </a:extLst>
          </p:cNvPr>
          <p:cNvSpPr txBox="1"/>
          <p:nvPr/>
        </p:nvSpPr>
        <p:spPr>
          <a:xfrm>
            <a:off x="2783959" y="2921169"/>
            <a:ext cx="6624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Sample Code</a:t>
            </a:r>
            <a:endParaRPr lang="zh-TW" altLang="en-US" sz="60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8772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98D7-2E2C-3F3B-FDF2-91F754AD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AAF85CA-C1B4-A0EA-C8DD-C325FA51FBF8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Enviroment</a:t>
            </a:r>
            <a:endParaRPr lang="en-US" altLang="zh-TW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198821-C814-6FA5-6D99-34EDFDEB583D}"/>
              </a:ext>
            </a:extLst>
          </p:cNvPr>
          <p:cNvSpPr txBox="1"/>
          <p:nvPr/>
        </p:nvSpPr>
        <p:spPr>
          <a:xfrm>
            <a:off x="1025237" y="1918021"/>
            <a:ext cx="101415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C++ &amp; </a:t>
            </a:r>
            <a:r>
              <a:rPr lang="en-US" altLang="zh-TW" sz="24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Cmake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 (Cross Platform)</a:t>
            </a:r>
          </a:p>
          <a:p>
            <a:pPr>
              <a:lnSpc>
                <a:spcPts val="4000"/>
              </a:lnSpc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OpenGL 3.3</a:t>
            </a:r>
          </a:p>
          <a:p>
            <a:pPr>
              <a:lnSpc>
                <a:spcPts val="4000"/>
              </a:lnSpc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n-lt"/>
                <a:ea typeface="+mn-ea"/>
                <a:cs typeface="+mn-cs"/>
              </a:rPr>
              <a:t>Libraries</a:t>
            </a: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glfw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(download yourself)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	Creating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windows,contexts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and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surfaces,handling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events, etc.</a:t>
            </a:r>
          </a:p>
          <a:p>
            <a:pPr lvl="3"/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glad 				OpenGL loading library.</a:t>
            </a: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glm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(v0.9.9.8)	 		Mathematic library.</a:t>
            </a: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stb_image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(v2.25) 		Image loader.</a:t>
            </a: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tinyobjloader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(v0.9.20) 		Obj file (3D model) loader.</a:t>
            </a:r>
          </a:p>
          <a:p>
            <a:pPr lvl="3"/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    dear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imgui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(v1.77) 		Graphical user interface.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1AF8B8E-353F-B63D-3EDD-089A0884C005}"/>
              </a:ext>
            </a:extLst>
          </p:cNvPr>
          <p:cNvSpPr/>
          <p:nvPr/>
        </p:nvSpPr>
        <p:spPr>
          <a:xfrm>
            <a:off x="1256090" y="4077509"/>
            <a:ext cx="6370838" cy="1605382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3FF18A5-1C03-9F4E-50D0-1313D26010D4}"/>
              </a:ext>
            </a:extLst>
          </p:cNvPr>
          <p:cNvSpPr txBox="1"/>
          <p:nvPr/>
        </p:nvSpPr>
        <p:spPr>
          <a:xfrm>
            <a:off x="7857781" y="4680145"/>
            <a:ext cx="3260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All under the thirdparty folder</a:t>
            </a:r>
            <a:r>
              <a:rPr lang="zh-TW" altLang="zh-TW" dirty="0">
                <a:solidFill>
                  <a:srgbClr val="00B050"/>
                </a:solidFill>
              </a:rPr>
              <a:t>.</a:t>
            </a:r>
            <a:endParaRPr lang="zh-TW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892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3A92-3057-AAB5-5F40-01BAF65B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293C709-DA7F-D142-CC84-41556AD0C0D8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Environment Setup</a:t>
            </a:r>
            <a:endParaRPr lang="en-US" altLang="zh-TW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142A2A6-A9FF-47FA-C1DB-05B1A6772A1D}"/>
              </a:ext>
            </a:extLst>
          </p:cNvPr>
          <p:cNvSpPr txBox="1"/>
          <p:nvPr/>
        </p:nvSpPr>
        <p:spPr>
          <a:xfrm>
            <a:off x="321762" y="1218278"/>
            <a:ext cx="11389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1. Download &amp; Unzip Hw1 from the course website    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http://graphics.csie.ncku.edu.tw/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F4C95814-DEC7-4647-F098-D42082082AFE}"/>
              </a:ext>
            </a:extLst>
          </p:cNvPr>
          <p:cNvGrpSpPr/>
          <p:nvPr/>
        </p:nvGrpSpPr>
        <p:grpSpPr>
          <a:xfrm>
            <a:off x="592984" y="2074986"/>
            <a:ext cx="6855519" cy="4275213"/>
            <a:chOff x="651599" y="2227385"/>
            <a:chExt cx="6855519" cy="4275213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F768F438-6055-DD8B-9E60-0E1353DAB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599" y="2227385"/>
              <a:ext cx="6855519" cy="4275213"/>
            </a:xfrm>
            <a:prstGeom prst="rect">
              <a:avLst/>
            </a:prstGeom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F2E0DBEE-4C06-BC1D-2B25-47D46AE43F78}"/>
                </a:ext>
              </a:extLst>
            </p:cNvPr>
            <p:cNvSpPr/>
            <p:nvPr/>
          </p:nvSpPr>
          <p:spPr>
            <a:xfrm>
              <a:off x="888676" y="4364990"/>
              <a:ext cx="6379631" cy="312517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53A547-FE92-5235-EDBF-F817CC1CE06B}"/>
              </a:ext>
            </a:extLst>
          </p:cNvPr>
          <p:cNvSpPr txBox="1"/>
          <p:nvPr/>
        </p:nvSpPr>
        <p:spPr>
          <a:xfrm>
            <a:off x="7685580" y="4014906"/>
            <a:ext cx="4079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Create a build folder under the sample code directory.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04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7E8D-89A3-3B44-B90B-BE8C9E8D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35A2207-0D0D-B679-5567-31E554EE642D}"/>
              </a:ext>
            </a:extLst>
          </p:cNvPr>
          <p:cNvSpPr txBox="1"/>
          <p:nvPr/>
        </p:nvSpPr>
        <p:spPr>
          <a:xfrm>
            <a:off x="321761" y="1218278"/>
            <a:ext cx="4895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2. Download &amp; Install Visual Studio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C45CBA-87C5-0FC7-42A6-3C65F66CDF40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Environment Setup</a:t>
            </a:r>
            <a:endParaRPr lang="en-US" altLang="zh-TW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E5AA3292-D05A-354D-4DD7-A33B5BA8C737}"/>
              </a:ext>
            </a:extLst>
          </p:cNvPr>
          <p:cNvGrpSpPr/>
          <p:nvPr/>
        </p:nvGrpSpPr>
        <p:grpSpPr>
          <a:xfrm>
            <a:off x="0" y="2028093"/>
            <a:ext cx="12192000" cy="3597557"/>
            <a:chOff x="0" y="2391506"/>
            <a:chExt cx="12192000" cy="3597557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927F80B9-9AE0-7C2F-AF26-F39BF5B6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391507"/>
              <a:ext cx="5420153" cy="3597556"/>
            </a:xfrm>
            <a:prstGeom prst="rect">
              <a:avLst/>
            </a:prstGeom>
          </p:spPr>
        </p:pic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308CDB1B-2C90-7097-FAAE-04DAD43552B8}"/>
                </a:ext>
              </a:extLst>
            </p:cNvPr>
            <p:cNvSpPr/>
            <p:nvPr/>
          </p:nvSpPr>
          <p:spPr>
            <a:xfrm>
              <a:off x="175847" y="4607169"/>
              <a:ext cx="1547446" cy="1009107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866112E6-4BEC-5EF9-8751-B103EABF1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0445" y="2391506"/>
              <a:ext cx="6751555" cy="3576333"/>
            </a:xfrm>
            <a:prstGeom prst="rect">
              <a:avLst/>
            </a:prstGeom>
          </p:spPr>
        </p:pic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EFBC2FEB-3C49-326F-A8B8-99C76E3B76F3}"/>
                </a:ext>
              </a:extLst>
            </p:cNvPr>
            <p:cNvSpPr/>
            <p:nvPr/>
          </p:nvSpPr>
          <p:spPr>
            <a:xfrm>
              <a:off x="5534229" y="3867897"/>
              <a:ext cx="2273340" cy="644775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A3CEFC-9C15-6C8D-63B7-F43C6A392B4C}"/>
              </a:ext>
            </a:extLst>
          </p:cNvPr>
          <p:cNvSpPr txBox="1"/>
          <p:nvPr/>
        </p:nvSpPr>
        <p:spPr>
          <a:xfrm>
            <a:off x="1737356" y="5940854"/>
            <a:ext cx="8717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The following instructions are for Visual Studio 2026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If you are using an older version, please refer to the [2025CG] → HW1 instructions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476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A63A-CF0A-1E48-5142-7A9F2B2A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3F5E38A-A9BE-C0C8-801F-278FEF638E7D}"/>
              </a:ext>
            </a:extLst>
          </p:cNvPr>
          <p:cNvSpPr txBox="1"/>
          <p:nvPr/>
        </p:nvSpPr>
        <p:spPr>
          <a:xfrm>
            <a:off x="321762" y="1218278"/>
            <a:ext cx="4074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3. Download &amp; Install </a:t>
            </a:r>
            <a:r>
              <a:rPr lang="en-US" altLang="zh-TW" sz="24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Cmake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DA62E6-015E-B708-C48D-2A013FCE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902" y="1797862"/>
            <a:ext cx="5217943" cy="488938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5ADCBF3-042C-9762-7DA0-45D33F79A296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Environment Setup</a:t>
            </a:r>
            <a:endParaRPr lang="en-US" altLang="zh-TW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C8F3FB-91A8-216E-3196-FD14CE1ED567}"/>
              </a:ext>
            </a:extLst>
          </p:cNvPr>
          <p:cNvSpPr txBox="1"/>
          <p:nvPr/>
        </p:nvSpPr>
        <p:spPr>
          <a:xfrm>
            <a:off x="7685580" y="4014906"/>
            <a:ext cx="4044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Choose the appropriate version based on your computer.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385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FC25-D5A9-ECBA-6275-09A689A2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AD5EE70-2FEB-5FD1-9F8A-977516EB07B2}"/>
              </a:ext>
            </a:extLst>
          </p:cNvPr>
          <p:cNvSpPr txBox="1"/>
          <p:nvPr/>
        </p:nvSpPr>
        <p:spPr>
          <a:xfrm>
            <a:off x="321761" y="1218278"/>
            <a:ext cx="2890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4. Download GLFW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54F42A-BA0F-450D-942B-66922A3D4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85" y="2424314"/>
            <a:ext cx="7168629" cy="272255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7428C2E-1C74-25E8-A3CD-B29FFD476521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Environment Setup</a:t>
            </a:r>
            <a:endParaRPr lang="en-US" altLang="zh-TW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175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FC40-45C2-ABD3-7D2B-CC62FC55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A4274D4-0F3B-A25A-C4D5-EE19CDBE5E1A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B0C1BE0-4662-60FF-7A75-10C741CFC106}"/>
              </a:ext>
            </a:extLst>
          </p:cNvPr>
          <p:cNvSpPr txBox="1"/>
          <p:nvPr/>
        </p:nvSpPr>
        <p:spPr>
          <a:xfrm>
            <a:off x="321762" y="1218278"/>
            <a:ext cx="8739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Extract the files and create a build folder inside the </a:t>
            </a:r>
            <a:r>
              <a:rPr lang="en-US" altLang="zh-TW" sz="24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glfw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folder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219ACF8-608B-A9DF-9D79-2311E93BB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79" y="1813036"/>
            <a:ext cx="6214041" cy="476131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ECF1AB-75FD-9C61-6123-3AE346D09355}"/>
              </a:ext>
            </a:extLst>
          </p:cNvPr>
          <p:cNvSpPr/>
          <p:nvPr/>
        </p:nvSpPr>
        <p:spPr>
          <a:xfrm>
            <a:off x="3226747" y="6281134"/>
            <a:ext cx="5741407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04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E630-515B-3D90-B930-65503E51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4915995-A34E-3107-80FA-CAC0C121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899"/>
          <a:stretch>
            <a:fillRect/>
          </a:stretch>
        </p:blipFill>
        <p:spPr>
          <a:xfrm>
            <a:off x="2655932" y="1813036"/>
            <a:ext cx="6880136" cy="4918692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E97B0ED4-06CF-E5D6-EA24-1EFE136CC3AB}"/>
              </a:ext>
            </a:extLst>
          </p:cNvPr>
          <p:cNvSpPr txBox="1"/>
          <p:nvPr/>
        </p:nvSpPr>
        <p:spPr>
          <a:xfrm>
            <a:off x="321761" y="1215235"/>
            <a:ext cx="4601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b="1" dirty="0"/>
              <a:t>Open CMake and set the paths</a:t>
            </a:r>
            <a:endParaRPr lang="en-US" altLang="zh-TW" b="1" dirty="0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1055113-07F7-4B27-A584-9EC6CFC7ADF6}"/>
              </a:ext>
            </a:extLst>
          </p:cNvPr>
          <p:cNvSpPr/>
          <p:nvPr/>
        </p:nvSpPr>
        <p:spPr>
          <a:xfrm>
            <a:off x="2655932" y="2415927"/>
            <a:ext cx="6880136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B7F1175-3E18-055A-9026-C4725FE033F0}"/>
              </a:ext>
            </a:extLst>
          </p:cNvPr>
          <p:cNvSpPr/>
          <p:nvPr/>
        </p:nvSpPr>
        <p:spPr>
          <a:xfrm>
            <a:off x="2655932" y="2970642"/>
            <a:ext cx="6880136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FACEE51F-0686-C665-E216-CB7089C313E8}"/>
              </a:ext>
            </a:extLst>
          </p:cNvPr>
          <p:cNvSpPr/>
          <p:nvPr/>
        </p:nvSpPr>
        <p:spPr>
          <a:xfrm>
            <a:off x="2790475" y="6294116"/>
            <a:ext cx="632280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0C9DB5D-C612-3974-5C3A-DC8017D5F6F5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pic>
        <p:nvPicPr>
          <p:cNvPr id="13" name="圖形 12" descr="識別證 外框">
            <a:extLst>
              <a:ext uri="{FF2B5EF4-FFF2-40B4-BE49-F238E27FC236}">
                <a16:creationId xmlns:a16="http://schemas.microsoft.com/office/drawing/2014/main" id="{8AEF7E97-977B-8A84-EFFE-0B2454DB2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1111" y="6078652"/>
            <a:ext cx="720000" cy="720000"/>
          </a:xfrm>
          <a:prstGeom prst="rect">
            <a:avLst/>
          </a:prstGeom>
        </p:spPr>
      </p:pic>
      <p:pic>
        <p:nvPicPr>
          <p:cNvPr id="15" name="圖形 14" descr="徽章 1 外框">
            <a:extLst>
              <a:ext uri="{FF2B5EF4-FFF2-40B4-BE49-F238E27FC236}">
                <a16:creationId xmlns:a16="http://schemas.microsoft.com/office/drawing/2014/main" id="{1FE5285B-AD28-5918-4B30-F8794377F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1111" y="240420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72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AFDC-BFE6-48D3-C43B-89D27599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12F9232A-6E0B-22D8-4B1B-8191BE49E3BA}"/>
              </a:ext>
            </a:extLst>
          </p:cNvPr>
          <p:cNvSpPr txBox="1"/>
          <p:nvPr/>
        </p:nvSpPr>
        <p:spPr>
          <a:xfrm>
            <a:off x="321762" y="1215235"/>
            <a:ext cx="307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Generator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ettings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4577E9-E591-7ECC-9463-77CBC8866000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0A51A7B-9064-0678-D1CE-BAB7B0FBA289}"/>
              </a:ext>
            </a:extLst>
          </p:cNvPr>
          <p:cNvSpPr txBox="1"/>
          <p:nvPr/>
        </p:nvSpPr>
        <p:spPr>
          <a:xfrm>
            <a:off x="4261713" y="6305644"/>
            <a:ext cx="4620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If no other changes are needed, click Finish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1CC0F63-78CD-AEE4-213C-0F5366CC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72" y="2039815"/>
            <a:ext cx="5686349" cy="4354169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F0F69F71-44CC-E565-6785-744B616A4929}"/>
              </a:ext>
            </a:extLst>
          </p:cNvPr>
          <p:cNvSpPr/>
          <p:nvPr/>
        </p:nvSpPr>
        <p:spPr>
          <a:xfrm>
            <a:off x="634572" y="2466980"/>
            <a:ext cx="5686349" cy="510681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C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1D33DF-3DBB-A45B-52AF-97EA82744109}"/>
              </a:ext>
            </a:extLst>
          </p:cNvPr>
          <p:cNvSpPr txBox="1"/>
          <p:nvPr/>
        </p:nvSpPr>
        <p:spPr>
          <a:xfrm>
            <a:off x="6571775" y="2359154"/>
            <a:ext cx="4773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C000"/>
                </a:solidFill>
                <a:latin typeface="+mj-lt"/>
                <a:ea typeface="+mn-ea"/>
                <a:cs typeface="+mn-cs"/>
              </a:rPr>
              <a:t>Specify the </a:t>
            </a:r>
            <a:r>
              <a:rPr lang="zh-TW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C000"/>
                </a:solidFill>
                <a:latin typeface="+mj-lt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C000"/>
                </a:solidFill>
                <a:latin typeface="+mj-lt"/>
                <a:ea typeface="+mn-ea"/>
                <a:cs typeface="+mn-cs"/>
              </a:rPr>
              <a:t> to use for project generation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EAE2D5A-EC9F-B951-3C0D-CE97B8A83BA0}"/>
              </a:ext>
            </a:extLst>
          </p:cNvPr>
          <p:cNvSpPr/>
          <p:nvPr/>
        </p:nvSpPr>
        <p:spPr>
          <a:xfrm>
            <a:off x="634572" y="3053135"/>
            <a:ext cx="5686349" cy="510681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DF26364-FAE8-C69B-5682-889FDD7A50A6}"/>
              </a:ext>
            </a:extLst>
          </p:cNvPr>
          <p:cNvSpPr txBox="1"/>
          <p:nvPr/>
        </p:nvSpPr>
        <p:spPr>
          <a:xfrm>
            <a:off x="6571775" y="2957768"/>
            <a:ext cx="4985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92D050"/>
                </a:solidFill>
                <a:latin typeface="+mj-lt"/>
                <a:ea typeface="+mn-ea"/>
                <a:cs typeface="+mn-cs"/>
              </a:rPr>
              <a:t>S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92D050"/>
                </a:solidFill>
                <a:latin typeface="+mj-lt"/>
                <a:ea typeface="+mn-ea"/>
                <a:cs typeface="+mn-cs"/>
              </a:rPr>
              <a:t>pecif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92D050"/>
                </a:solidFill>
                <a:latin typeface="+mj-lt"/>
                <a:ea typeface="+mn-ea"/>
                <a:cs typeface="+mn-cs"/>
              </a:rPr>
              <a:t>y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92D050"/>
                </a:solidFill>
                <a:latin typeface="+mj-lt"/>
                <a:ea typeface="+mn-ea"/>
                <a:cs typeface="+mn-cs"/>
              </a:rPr>
              <a:t> the target architecture, indicating CPU architecture the generated program will run on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92D05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D2F4FC9-711B-0F13-CA41-A5E3469E77EF}"/>
              </a:ext>
            </a:extLst>
          </p:cNvPr>
          <p:cNvSpPr txBox="1"/>
          <p:nvPr/>
        </p:nvSpPr>
        <p:spPr>
          <a:xfrm>
            <a:off x="6571774" y="4161149"/>
            <a:ext cx="47732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Specify the compiler toolchain version. 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If left empty, CMake uses the default toolset associated with the 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C000"/>
                </a:solidFill>
                <a:latin typeface="+mj-lt"/>
                <a:ea typeface="+mn-ea"/>
                <a:cs typeface="+mn-cs"/>
              </a:rPr>
              <a:t>selected generator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62D483A-B4C3-7AFE-5410-C85D97EFD66D}"/>
              </a:ext>
            </a:extLst>
          </p:cNvPr>
          <p:cNvSpPr/>
          <p:nvPr/>
        </p:nvSpPr>
        <p:spPr>
          <a:xfrm>
            <a:off x="634572" y="3638039"/>
            <a:ext cx="5686349" cy="2004726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  <p:sp>
        <p:nvSpPr>
          <p:cNvPr id="23" name="箭號: 迴轉箭號 22">
            <a:extLst>
              <a:ext uri="{FF2B5EF4-FFF2-40B4-BE49-F238E27FC236}">
                <a16:creationId xmlns:a16="http://schemas.microsoft.com/office/drawing/2014/main" id="{A3CB3332-E173-ED42-6601-520CC38A61E4}"/>
              </a:ext>
            </a:extLst>
          </p:cNvPr>
          <p:cNvSpPr/>
          <p:nvPr/>
        </p:nvSpPr>
        <p:spPr>
          <a:xfrm rot="13954948">
            <a:off x="5121916" y="3128652"/>
            <a:ext cx="4017610" cy="2620834"/>
          </a:xfrm>
          <a:prstGeom prst="uturnArrow">
            <a:avLst>
              <a:gd name="adj1" fmla="val 4233"/>
              <a:gd name="adj2" fmla="val 7508"/>
              <a:gd name="adj3" fmla="val 12816"/>
              <a:gd name="adj4" fmla="val 62184"/>
              <a:gd name="adj5" fmla="val 7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3497C96-4ECA-D539-3425-4A71265BFB1F}"/>
              </a:ext>
            </a:extLst>
          </p:cNvPr>
          <p:cNvSpPr/>
          <p:nvPr/>
        </p:nvSpPr>
        <p:spPr>
          <a:xfrm>
            <a:off x="4301826" y="5982234"/>
            <a:ext cx="852315" cy="24272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622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2452-10CE-0654-6E54-48AA081F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1D68D2D-3608-0CED-0603-5BD74A62D749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D95E273-DCF8-7033-1633-F122BF19F0A1}"/>
              </a:ext>
            </a:extLst>
          </p:cNvPr>
          <p:cNvSpPr txBox="1"/>
          <p:nvPr/>
        </p:nvSpPr>
        <p:spPr>
          <a:xfrm>
            <a:off x="321761" y="1215235"/>
            <a:ext cx="4238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b="1" dirty="0"/>
              <a:t>Setting the </a:t>
            </a:r>
            <a:r>
              <a:rPr lang="en-US" altLang="zh-TW" b="1" dirty="0" err="1"/>
              <a:t>i</a:t>
            </a:r>
            <a:r>
              <a:rPr lang="zh-TW" altLang="zh-TW" b="1" dirty="0"/>
              <a:t>nstallation </a:t>
            </a:r>
            <a:r>
              <a:rPr lang="en-US" altLang="zh-TW" b="1" dirty="0"/>
              <a:t>p</a:t>
            </a:r>
            <a:r>
              <a:rPr lang="zh-TW" altLang="zh-TW" b="1" dirty="0"/>
              <a:t>ath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09C7E57-8EF3-FED0-AEBC-C3A509ED5998}"/>
              </a:ext>
            </a:extLst>
          </p:cNvPr>
          <p:cNvGrpSpPr/>
          <p:nvPr/>
        </p:nvGrpSpPr>
        <p:grpSpPr>
          <a:xfrm>
            <a:off x="548809" y="1903358"/>
            <a:ext cx="6567999" cy="4663434"/>
            <a:chOff x="321762" y="1903358"/>
            <a:chExt cx="6567999" cy="4663434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85523517-C569-0FF0-C31F-FB210759D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0956"/>
            <a:stretch>
              <a:fillRect/>
            </a:stretch>
          </p:blipFill>
          <p:spPr>
            <a:xfrm>
              <a:off x="321762" y="1903358"/>
              <a:ext cx="6567999" cy="4663434"/>
            </a:xfrm>
            <a:prstGeom prst="rect">
              <a:avLst/>
            </a:prstGeom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B347630D-67EF-282B-85B3-FDDECD1A4B19}"/>
                </a:ext>
              </a:extLst>
            </p:cNvPr>
            <p:cNvSpPr/>
            <p:nvPr/>
          </p:nvSpPr>
          <p:spPr>
            <a:xfrm>
              <a:off x="433474" y="4013655"/>
              <a:ext cx="6358268" cy="232553"/>
            </a:xfrm>
            <a:prstGeom prst="roundRect">
              <a:avLst/>
            </a:prstGeom>
            <a:noFill/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C9D8FC13-7D03-3A4D-FFD0-88D44CFFEDCA}"/>
                </a:ext>
              </a:extLst>
            </p:cNvPr>
            <p:cNvSpPr/>
            <p:nvPr/>
          </p:nvSpPr>
          <p:spPr>
            <a:xfrm>
              <a:off x="456920" y="6204189"/>
              <a:ext cx="637954" cy="232553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92A1DA6A-2F3D-A440-B1DC-EABD1A17A3B3}"/>
                </a:ext>
              </a:extLst>
            </p:cNvPr>
            <p:cNvSpPr/>
            <p:nvPr/>
          </p:nvSpPr>
          <p:spPr>
            <a:xfrm>
              <a:off x="1185013" y="6210778"/>
              <a:ext cx="637954" cy="232553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30DEA7-F9B8-EBAF-634D-A4ED0E252351}"/>
              </a:ext>
            </a:extLst>
          </p:cNvPr>
          <p:cNvSpPr txBox="1"/>
          <p:nvPr/>
        </p:nvSpPr>
        <p:spPr>
          <a:xfrm>
            <a:off x="7116808" y="1830788"/>
            <a:ext cx="45263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The default installation path is 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C:/Program Files (x86)/GLFW.</a:t>
            </a: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CMake may encounter permission issues when writing files to this directory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  <a:p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  <a:p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  <a:p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Therefore, it is strongly recommended to create a new directory, such as </a:t>
            </a:r>
            <a:r>
              <a:rPr lang="zh-TW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sample_code/msvc2026shared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, and set CMAKE_INSTALL_PREFIX to directory</a:t>
            </a:r>
          </a:p>
        </p:txBody>
      </p:sp>
      <p:pic>
        <p:nvPicPr>
          <p:cNvPr id="15" name="圖形 14" descr="徽章 1 外框">
            <a:extLst>
              <a:ext uri="{FF2B5EF4-FFF2-40B4-BE49-F238E27FC236}">
                <a16:creationId xmlns:a16="http://schemas.microsoft.com/office/drawing/2014/main" id="{65515128-39C2-6BC1-FD61-95D355D33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6808" y="3293655"/>
            <a:ext cx="720000" cy="720000"/>
          </a:xfrm>
          <a:prstGeom prst="rect">
            <a:avLst/>
          </a:prstGeom>
        </p:spPr>
      </p:pic>
      <p:pic>
        <p:nvPicPr>
          <p:cNvPr id="17" name="圖形 16" descr="識別證 外框">
            <a:extLst>
              <a:ext uri="{FF2B5EF4-FFF2-40B4-BE49-F238E27FC236}">
                <a16:creationId xmlns:a16="http://schemas.microsoft.com/office/drawing/2014/main" id="{3B021A1C-F55B-5C7A-6DE6-D0C39BBBD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944" y="5408088"/>
            <a:ext cx="720000" cy="720000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4D06C0DC-FE83-C088-B49A-D0F557D1066B}"/>
              </a:ext>
            </a:extLst>
          </p:cNvPr>
          <p:cNvSpPr txBox="1"/>
          <p:nvPr/>
        </p:nvSpPr>
        <p:spPr>
          <a:xfrm>
            <a:off x="1356644" y="5568033"/>
            <a:ext cx="45415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zh-TW" sz="2000" dirty="0">
                <a:solidFill>
                  <a:srgbClr val="FF0000"/>
                </a:solidFill>
              </a:rPr>
              <a:t>Click Configure again, then click Generate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661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32CC-14F2-E756-6C20-265D3DB4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BFD746A-5ADF-1E23-47DC-F31BEF1BDC66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78CFE77-9809-0464-A32A-912B88E7BDC9}"/>
              </a:ext>
            </a:extLst>
          </p:cNvPr>
          <p:cNvSpPr txBox="1"/>
          <p:nvPr/>
        </p:nvSpPr>
        <p:spPr>
          <a:xfrm>
            <a:off x="321762" y="1215235"/>
            <a:ext cx="3628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Open build/</a:t>
            </a:r>
            <a:r>
              <a:rPr lang="en-US" altLang="zh-TW" sz="24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GLFW.slnx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38AE4B-9790-FC69-9487-66866B0A8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048"/>
          <a:stretch>
            <a:fillRect/>
          </a:stretch>
        </p:blipFill>
        <p:spPr>
          <a:xfrm>
            <a:off x="2992790" y="1825983"/>
            <a:ext cx="6210230" cy="490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83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31D5-7B15-0D6C-469F-3AAD5F60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14CE98D-6A8C-7BD5-6308-430E249D6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98" y="2494759"/>
            <a:ext cx="9889204" cy="217102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33E842B-40B8-6A71-8BD6-35D1C94D3134}"/>
              </a:ext>
            </a:extLst>
          </p:cNvPr>
          <p:cNvSpPr txBox="1"/>
          <p:nvPr/>
        </p:nvSpPr>
        <p:spPr>
          <a:xfrm>
            <a:off x="321762" y="1215235"/>
            <a:ext cx="3744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Switch to Release mode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BC01896-5100-73AC-2A9E-2CAAAE0AAC39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0995F5D-E3C0-243C-1901-2E407513B671}"/>
              </a:ext>
            </a:extLst>
          </p:cNvPr>
          <p:cNvSpPr/>
          <p:nvPr/>
        </p:nvSpPr>
        <p:spPr>
          <a:xfrm>
            <a:off x="4682334" y="2841347"/>
            <a:ext cx="1413666" cy="182443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211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5273-6AFD-CB46-6165-8B5B62DC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2ACCD1A-FCCC-A0E9-2548-DC1DE60670D7}"/>
              </a:ext>
            </a:extLst>
          </p:cNvPr>
          <p:cNvSpPr txBox="1"/>
          <p:nvPr/>
        </p:nvSpPr>
        <p:spPr>
          <a:xfrm>
            <a:off x="321762" y="1215234"/>
            <a:ext cx="5576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Right-click INSTALL and select Build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37FA1F-101E-145D-6414-E6B1A94A5B16}"/>
              </a:ext>
            </a:extLst>
          </p:cNvPr>
          <p:cNvSpPr txBox="1"/>
          <p:nvPr/>
        </p:nvSpPr>
        <p:spPr>
          <a:xfrm>
            <a:off x="3048000" y="1262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GLFW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296ADAF-00F1-53F4-C48D-F55D8B9E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4" b="47894"/>
          <a:stretch>
            <a:fillRect/>
          </a:stretch>
        </p:blipFill>
        <p:spPr>
          <a:xfrm>
            <a:off x="2810539" y="2255680"/>
            <a:ext cx="6570922" cy="4381069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2C873FD3-2681-1D35-E8E0-24C49CCE0B8A}"/>
              </a:ext>
            </a:extLst>
          </p:cNvPr>
          <p:cNvSpPr/>
          <p:nvPr/>
        </p:nvSpPr>
        <p:spPr>
          <a:xfrm>
            <a:off x="2886541" y="4624775"/>
            <a:ext cx="2017968" cy="2624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60B4778-25D1-99F8-40E3-16D228454B78}"/>
              </a:ext>
            </a:extLst>
          </p:cNvPr>
          <p:cNvSpPr/>
          <p:nvPr/>
        </p:nvSpPr>
        <p:spPr>
          <a:xfrm>
            <a:off x="5987493" y="3075809"/>
            <a:ext cx="3393968" cy="24182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4E44F124-04E0-EE72-81B0-CA09269A4628}"/>
              </a:ext>
            </a:extLst>
          </p:cNvPr>
          <p:cNvCxnSpPr>
            <a:cxnSpLocks/>
          </p:cNvCxnSpPr>
          <p:nvPr/>
        </p:nvCxnSpPr>
        <p:spPr>
          <a:xfrm flipV="1">
            <a:off x="4608260" y="3317630"/>
            <a:ext cx="1379233" cy="12967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50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4B4B-C5F3-EFB4-C9B4-B96C798B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D3535CD-3A31-8612-D1B2-CF5CB480A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70" y="2215661"/>
            <a:ext cx="6096000" cy="431409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06D24F1-36AF-720E-2F40-EC454BB6C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268" y="2441377"/>
            <a:ext cx="5517887" cy="426422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B8F97DC-0B41-D501-06DB-67F0B45AF5F0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26E981-6E03-2803-8BB6-353B592902FF}"/>
              </a:ext>
            </a:extLst>
          </p:cNvPr>
          <p:cNvSpPr txBox="1"/>
          <p:nvPr/>
        </p:nvSpPr>
        <p:spPr>
          <a:xfrm>
            <a:off x="321761" y="1215235"/>
            <a:ext cx="4601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b="1" dirty="0"/>
              <a:t>Open CMake and set the paths</a:t>
            </a:r>
            <a:endParaRPr lang="en-US" altLang="zh-TW" b="1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338E9B9-9AA5-4507-F37D-4065577362ED}"/>
              </a:ext>
            </a:extLst>
          </p:cNvPr>
          <p:cNvSpPr/>
          <p:nvPr/>
        </p:nvSpPr>
        <p:spPr>
          <a:xfrm>
            <a:off x="205472" y="2751532"/>
            <a:ext cx="6096000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DDE118F-1273-2907-C81E-A13EEC867D09}"/>
              </a:ext>
            </a:extLst>
          </p:cNvPr>
          <p:cNvSpPr/>
          <p:nvPr/>
        </p:nvSpPr>
        <p:spPr>
          <a:xfrm>
            <a:off x="205472" y="3251453"/>
            <a:ext cx="6096000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A71ACDD-9952-764F-DDEC-6DF09F5EC67C}"/>
              </a:ext>
            </a:extLst>
          </p:cNvPr>
          <p:cNvSpPr/>
          <p:nvPr/>
        </p:nvSpPr>
        <p:spPr>
          <a:xfrm>
            <a:off x="333484" y="6228959"/>
            <a:ext cx="632280" cy="2890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441E281-730B-B361-6A37-4065D975A8CC}"/>
              </a:ext>
            </a:extLst>
          </p:cNvPr>
          <p:cNvSpPr txBox="1"/>
          <p:nvPr/>
        </p:nvSpPr>
        <p:spPr>
          <a:xfrm>
            <a:off x="7490694" y="2056374"/>
            <a:ext cx="3306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zh-TW" sz="2000" dirty="0">
                <a:solidFill>
                  <a:srgbClr val="00B050"/>
                </a:solidFill>
              </a:rPr>
              <a:t>Use the same setting as </a:t>
            </a:r>
            <a:r>
              <a:rPr lang="zh-TW" altLang="zh-TW" sz="2000" b="1" dirty="0">
                <a:solidFill>
                  <a:srgbClr val="00B05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before</a:t>
            </a:r>
            <a:endParaRPr lang="en-US" altLang="zh-TW" sz="2000" b="1" dirty="0">
              <a:solidFill>
                <a:srgbClr val="00B050"/>
              </a:solidFill>
            </a:endParaRPr>
          </a:p>
        </p:txBody>
      </p:sp>
      <p:pic>
        <p:nvPicPr>
          <p:cNvPr id="18" name="圖形 17" descr="識別證 外框">
            <a:extLst>
              <a:ext uri="{FF2B5EF4-FFF2-40B4-BE49-F238E27FC236}">
                <a16:creationId xmlns:a16="http://schemas.microsoft.com/office/drawing/2014/main" id="{802E8505-3AB6-CEA3-559F-4D9FAFC07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370" y="5432170"/>
            <a:ext cx="720000" cy="720000"/>
          </a:xfrm>
          <a:prstGeom prst="rect">
            <a:avLst/>
          </a:prstGeom>
        </p:spPr>
      </p:pic>
      <p:pic>
        <p:nvPicPr>
          <p:cNvPr id="20" name="圖形 19" descr="徽章 1 外框">
            <a:extLst>
              <a:ext uri="{FF2B5EF4-FFF2-40B4-BE49-F238E27FC236}">
                <a16:creationId xmlns:a16="http://schemas.microsoft.com/office/drawing/2014/main" id="{82E90708-A499-8EAC-0D42-27D0D2FAF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370" y="1954743"/>
            <a:ext cx="720000" cy="720000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00E3D483-9B90-EE2F-4E71-8AC3AFD909AC}"/>
              </a:ext>
            </a:extLst>
          </p:cNvPr>
          <p:cNvSpPr/>
          <p:nvPr/>
        </p:nvSpPr>
        <p:spPr>
          <a:xfrm>
            <a:off x="10063637" y="6283569"/>
            <a:ext cx="838825" cy="30479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形 12" descr="徽章 3 外框">
            <a:extLst>
              <a:ext uri="{FF2B5EF4-FFF2-40B4-BE49-F238E27FC236}">
                <a16:creationId xmlns:a16="http://schemas.microsoft.com/office/drawing/2014/main" id="{361047D7-A2D5-4192-5FEF-279749B90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3049" y="550895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66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1FDA0F-FA15-1294-4725-34D7982D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4E61268-B49E-DAD8-937C-AAFC28297FD0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C1C9ED-8D5F-445E-5701-3B3D49E57204}"/>
              </a:ext>
            </a:extLst>
          </p:cNvPr>
          <p:cNvSpPr txBox="1"/>
          <p:nvPr/>
        </p:nvSpPr>
        <p:spPr>
          <a:xfrm>
            <a:off x="321762" y="12152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Modify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t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hree CMake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onfiguration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f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iles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ED666D-A91C-19CD-08BD-FEF33F12ADA3}"/>
              </a:ext>
            </a:extLst>
          </p:cNvPr>
          <p:cNvSpPr txBox="1"/>
          <p:nvPr/>
        </p:nvSpPr>
        <p:spPr>
          <a:xfrm>
            <a:off x="3306169" y="1841347"/>
            <a:ext cx="55796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zh-TW" altLang="zh-TW" sz="2000" dirty="0"/>
              <a:t>If you encounter the following error message, you can resolve it using the steps shown on the next slide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997AC0-DC88-54C1-2FAB-DA62389F5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399" y="4089784"/>
            <a:ext cx="8997201" cy="60258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5CEF44D-C509-7897-0FD7-F179DEE24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171" y="3068759"/>
            <a:ext cx="9081658" cy="68895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D10ABC2-5497-BD3E-1931-B2340049A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1" y="5024440"/>
            <a:ext cx="11959936" cy="64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99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80B995-B54F-95A0-A45E-11AA8EC6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347361B-3A9B-2445-0140-40CA9FFE52E8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8740F7-570B-3B1E-7E1C-D7361966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50" y="2350593"/>
            <a:ext cx="5774687" cy="39194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D8E06F5-8B5B-2F8A-C0EE-BDCE2D8407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64" b="35380"/>
          <a:stretch>
            <a:fillRect/>
          </a:stretch>
        </p:blipFill>
        <p:spPr>
          <a:xfrm>
            <a:off x="6209764" y="2356340"/>
            <a:ext cx="5774687" cy="39194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FF76A98-833A-BFB1-D776-76BF151559D2}"/>
              </a:ext>
            </a:extLst>
          </p:cNvPr>
          <p:cNvSpPr txBox="1"/>
          <p:nvPr/>
        </p:nvSpPr>
        <p:spPr>
          <a:xfrm>
            <a:off x="321762" y="12152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Modify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t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hree CMake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onfiguration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f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iles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DAAC8B6-6B44-450C-4B7A-0D7650C06214}"/>
              </a:ext>
            </a:extLst>
          </p:cNvPr>
          <p:cNvSpPr/>
          <p:nvPr/>
        </p:nvSpPr>
        <p:spPr>
          <a:xfrm>
            <a:off x="310039" y="3152008"/>
            <a:ext cx="2937253" cy="33560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67F8AF-05AB-5808-B0BD-98F1414ADE6C}"/>
              </a:ext>
            </a:extLst>
          </p:cNvPr>
          <p:cNvSpPr/>
          <p:nvPr/>
        </p:nvSpPr>
        <p:spPr>
          <a:xfrm>
            <a:off x="6312254" y="3175454"/>
            <a:ext cx="3406177" cy="30043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3B1AE8-4166-5F62-AD2E-6E1DB828D3AB}"/>
              </a:ext>
            </a:extLst>
          </p:cNvPr>
          <p:cNvSpPr txBox="1"/>
          <p:nvPr/>
        </p:nvSpPr>
        <p:spPr>
          <a:xfrm>
            <a:off x="1089623" y="6270064"/>
            <a:ext cx="3916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8750" indent="0">
              <a:buNone/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dirty="0" err="1"/>
              <a:t>sample_code</a:t>
            </a:r>
            <a:r>
              <a:rPr lang="en-US" altLang="zh-TW" dirty="0"/>
              <a:t>\CMakeLists.txt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B85362-C504-F433-10B9-8AE994EC273E}"/>
              </a:ext>
            </a:extLst>
          </p:cNvPr>
          <p:cNvSpPr txBox="1"/>
          <p:nvPr/>
        </p:nvSpPr>
        <p:spPr>
          <a:xfrm>
            <a:off x="6892858" y="6270064"/>
            <a:ext cx="4408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0" indent="0">
              <a:buNone/>
            </a:pPr>
            <a:r>
              <a:rPr lang="en-US" altLang="zh-TW" sz="24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sample_code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\</a:t>
            </a:r>
            <a:r>
              <a:rPr lang="en-US" altLang="zh-TW" sz="24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src</a:t>
            </a:r>
            <a:r>
              <a:rPr lang="en-US" altLang="zh-TW" sz="2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\CMakeLists.txt</a:t>
            </a:r>
            <a:endParaRPr lang="zh-TW" altLang="en-US" sz="24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C2421FC-596F-C0DE-57CA-6818D92B31D8}"/>
              </a:ext>
            </a:extLst>
          </p:cNvPr>
          <p:cNvSpPr txBox="1"/>
          <p:nvPr/>
        </p:nvSpPr>
        <p:spPr>
          <a:xfrm>
            <a:off x="3048001" y="1719053"/>
            <a:ext cx="6095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8750" indent="0">
              <a:buNone/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b="1" dirty="0" err="1">
                <a:solidFill>
                  <a:srgbClr val="FF0000"/>
                </a:solidFill>
              </a:rPr>
              <a:t>cmake_minimum_required</a:t>
            </a:r>
            <a:r>
              <a:rPr lang="en-US" altLang="zh-TW" b="1" dirty="0">
                <a:solidFill>
                  <a:srgbClr val="FF0000"/>
                </a:solidFill>
              </a:rPr>
              <a:t>(VERSION 3.10)</a:t>
            </a:r>
          </a:p>
        </p:txBody>
      </p:sp>
    </p:spTree>
    <p:extLst>
      <p:ext uri="{BB962C8B-B14F-4D97-AF65-F5344CB8AC3E}">
        <p14:creationId xmlns:p14="http://schemas.microsoft.com/office/powerpoint/2010/main" val="445558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A93BDF-BB94-779E-B482-9600F907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F68A351-914B-48F1-E5FC-5857F152D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719"/>
          <a:stretch>
            <a:fillRect/>
          </a:stretch>
        </p:blipFill>
        <p:spPr>
          <a:xfrm>
            <a:off x="2165195" y="2350593"/>
            <a:ext cx="7079073" cy="391947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1106E16-41AB-590D-1FD8-FD105C74D4AE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C65559-6D8D-4998-80A9-C00944E472A3}"/>
              </a:ext>
            </a:extLst>
          </p:cNvPr>
          <p:cNvSpPr txBox="1"/>
          <p:nvPr/>
        </p:nvSpPr>
        <p:spPr>
          <a:xfrm>
            <a:off x="321762" y="12152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Modify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t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hree CMake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c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onfiguration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f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iles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EFFA816-CC26-E0EB-7A4E-669D09586F84}"/>
              </a:ext>
            </a:extLst>
          </p:cNvPr>
          <p:cNvSpPr/>
          <p:nvPr/>
        </p:nvSpPr>
        <p:spPr>
          <a:xfrm>
            <a:off x="2826327" y="2907368"/>
            <a:ext cx="3200400" cy="54844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8831490-0EE2-F442-B068-C168D2D12BA7}"/>
              </a:ext>
            </a:extLst>
          </p:cNvPr>
          <p:cNvSpPr txBox="1"/>
          <p:nvPr/>
        </p:nvSpPr>
        <p:spPr>
          <a:xfrm>
            <a:off x="1958896" y="6270064"/>
            <a:ext cx="74916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8750" indent="0">
              <a:buNone/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dirty="0" err="1"/>
              <a:t>sample_code</a:t>
            </a:r>
            <a:r>
              <a:rPr lang="en-US" altLang="zh-TW" dirty="0"/>
              <a:t>\</a:t>
            </a:r>
            <a:r>
              <a:rPr lang="en-US" altLang="zh-TW" dirty="0" err="1"/>
              <a:t>thirdparty</a:t>
            </a:r>
            <a:r>
              <a:rPr lang="en-US" altLang="zh-TW" dirty="0"/>
              <a:t>\</a:t>
            </a:r>
            <a:r>
              <a:rPr lang="en-US" altLang="zh-TW" dirty="0" err="1"/>
              <a:t>glm</a:t>
            </a:r>
            <a:r>
              <a:rPr lang="en-US" altLang="zh-TW" dirty="0"/>
              <a:t>\</a:t>
            </a:r>
            <a:r>
              <a:rPr lang="en-US" altLang="zh-TW" dirty="0" err="1"/>
              <a:t>cmake</a:t>
            </a:r>
            <a:r>
              <a:rPr lang="en-US" altLang="zh-TW" dirty="0"/>
              <a:t>\</a:t>
            </a:r>
            <a:r>
              <a:rPr lang="en-US" altLang="zh-TW" dirty="0" err="1"/>
              <a:t>glm</a:t>
            </a:r>
            <a:r>
              <a:rPr lang="en-US" altLang="zh-TW" dirty="0"/>
              <a:t>\</a:t>
            </a:r>
            <a:r>
              <a:rPr lang="en-US" altLang="zh-TW" dirty="0" err="1"/>
              <a:t>glmConfig.cmake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B8BEF6-F12A-C139-2112-E70171D714AA}"/>
              </a:ext>
            </a:extLst>
          </p:cNvPr>
          <p:cNvSpPr txBox="1"/>
          <p:nvPr/>
        </p:nvSpPr>
        <p:spPr>
          <a:xfrm>
            <a:off x="3048001" y="1667098"/>
            <a:ext cx="6095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8750" indent="0">
              <a:buNone/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b="1" dirty="0" err="1">
                <a:solidFill>
                  <a:srgbClr val="FF0000"/>
                </a:solidFill>
              </a:rPr>
              <a:t>cmake_minimum_required</a:t>
            </a:r>
            <a:r>
              <a:rPr lang="en-US" altLang="zh-TW" b="1" dirty="0">
                <a:solidFill>
                  <a:srgbClr val="FF0000"/>
                </a:solidFill>
              </a:rPr>
              <a:t>(VERSION 3.10)</a:t>
            </a:r>
          </a:p>
          <a:p>
            <a:r>
              <a:rPr lang="en-US" altLang="zh-TW" b="1" dirty="0" err="1">
                <a:solidFill>
                  <a:srgbClr val="FF0000"/>
                </a:solidFill>
              </a:rPr>
              <a:t>cmake_policy</a:t>
            </a:r>
            <a:r>
              <a:rPr lang="en-US" altLang="zh-TW" b="1" dirty="0">
                <a:solidFill>
                  <a:srgbClr val="FF0000"/>
                </a:solidFill>
              </a:rPr>
              <a:t>(VERSION 3.10)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643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0116-E423-55C5-7059-2716B308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04E8D15-69E5-2CB9-4A54-1529730D85FA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C40AEBE-920A-B8CD-FBC2-5580AF18DBAE}"/>
              </a:ext>
            </a:extLst>
          </p:cNvPr>
          <p:cNvSpPr txBox="1"/>
          <p:nvPr/>
        </p:nvSpPr>
        <p:spPr>
          <a:xfrm>
            <a:off x="3856093" y="1446067"/>
            <a:ext cx="4479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The first Configure step is expected to fail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906940-6635-85B9-FEDA-A4029A838BDF}"/>
              </a:ext>
            </a:extLst>
          </p:cNvPr>
          <p:cNvSpPr txBox="1"/>
          <p:nvPr/>
        </p:nvSpPr>
        <p:spPr>
          <a:xfrm>
            <a:off x="321761" y="1215235"/>
            <a:ext cx="2467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b="1" dirty="0"/>
              <a:t>S</a:t>
            </a:r>
            <a:r>
              <a:rPr lang="zh-TW" altLang="zh-TW" b="1" dirty="0"/>
              <a:t>et </a:t>
            </a:r>
            <a:r>
              <a:rPr lang="en-US" altLang="zh-TW" b="1" dirty="0"/>
              <a:t>glfw3_DIR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E9CE70A-164E-1A37-BD50-66C3C192C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66" y="1934867"/>
            <a:ext cx="7947586" cy="459544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61F4DA2-BD76-D993-2372-6CD5C3220B97}"/>
              </a:ext>
            </a:extLst>
          </p:cNvPr>
          <p:cNvSpPr txBox="1"/>
          <p:nvPr/>
        </p:nvSpPr>
        <p:spPr>
          <a:xfrm>
            <a:off x="7144250" y="3512590"/>
            <a:ext cx="4302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 glfw3_DIR to the </a:t>
            </a:r>
            <a:r>
              <a:rPr lang="zh-TW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previously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 created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msvc2026shared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/lib/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cmake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/glfw3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4113558-F367-3B19-5946-1A96EB347E24}"/>
              </a:ext>
            </a:extLst>
          </p:cNvPr>
          <p:cNvSpPr/>
          <p:nvPr/>
        </p:nvSpPr>
        <p:spPr>
          <a:xfrm>
            <a:off x="4439093" y="3212440"/>
            <a:ext cx="4565820" cy="19311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形 13" descr="徽章 1 外框">
            <a:extLst>
              <a:ext uri="{FF2B5EF4-FFF2-40B4-BE49-F238E27FC236}">
                <a16:creationId xmlns:a16="http://schemas.microsoft.com/office/drawing/2014/main" id="{D32787C3-DA3A-ACB9-8E12-880CA2984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0642" y="3512590"/>
            <a:ext cx="720000" cy="720000"/>
          </a:xfrm>
          <a:prstGeom prst="rect">
            <a:avLst/>
          </a:prstGeom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AD1CCE9-6CBA-8B1D-D224-B39D055F1FAD}"/>
              </a:ext>
            </a:extLst>
          </p:cNvPr>
          <p:cNvSpPr/>
          <p:nvPr/>
        </p:nvSpPr>
        <p:spPr>
          <a:xfrm>
            <a:off x="4439093" y="4772883"/>
            <a:ext cx="511767" cy="21778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形 17" descr="識別證 外框">
            <a:extLst>
              <a:ext uri="{FF2B5EF4-FFF2-40B4-BE49-F238E27FC236}">
                <a16:creationId xmlns:a16="http://schemas.microsoft.com/office/drawing/2014/main" id="{A184A9F3-1F43-48FC-9D08-D0FEE63D8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4976" y="3963127"/>
            <a:ext cx="720000" cy="72000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078FD0-5A33-CD3A-35D8-648D4B4AA9AF}"/>
              </a:ext>
            </a:extLst>
          </p:cNvPr>
          <p:cNvSpPr txBox="1"/>
          <p:nvPr/>
        </p:nvSpPr>
        <p:spPr>
          <a:xfrm>
            <a:off x="745250" y="3575194"/>
            <a:ext cx="409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Make sure these files are in the folder 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C1E2125-70F5-C1BB-10BC-8EF28F0E3A1A}"/>
              </a:ext>
            </a:extLst>
          </p:cNvPr>
          <p:cNvSpPr/>
          <p:nvPr/>
        </p:nvSpPr>
        <p:spPr>
          <a:xfrm>
            <a:off x="1208425" y="2752975"/>
            <a:ext cx="3172731" cy="769817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弧形下彎 22">
            <a:extLst>
              <a:ext uri="{FF2B5EF4-FFF2-40B4-BE49-F238E27FC236}">
                <a16:creationId xmlns:a16="http://schemas.microsoft.com/office/drawing/2014/main" id="{DDEB197C-9E67-E0D9-7662-159FDE635B87}"/>
              </a:ext>
            </a:extLst>
          </p:cNvPr>
          <p:cNvSpPr/>
          <p:nvPr/>
        </p:nvSpPr>
        <p:spPr>
          <a:xfrm rot="10800000">
            <a:off x="2392216" y="4220476"/>
            <a:ext cx="8044439" cy="2035202"/>
          </a:xfrm>
          <a:prstGeom prst="curvedDownArrow">
            <a:avLst>
              <a:gd name="adj1" fmla="val 5953"/>
              <a:gd name="adj2" fmla="val 18979"/>
              <a:gd name="adj3" fmla="val 2361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398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520F-88C9-8008-BD45-7B8747A6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2ED04F5-2B89-4D00-5720-41508E5D18E4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595D65-B813-B808-4DB3-B3013428AD1C}"/>
              </a:ext>
            </a:extLst>
          </p:cNvPr>
          <p:cNvSpPr txBox="1"/>
          <p:nvPr/>
        </p:nvSpPr>
        <p:spPr>
          <a:xfrm>
            <a:off x="3699316" y="1446067"/>
            <a:ext cx="47933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The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second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rPr>
              <a:t> Configure step is expected to fail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09425F-9DF8-8870-A112-5506FFE29618}"/>
              </a:ext>
            </a:extLst>
          </p:cNvPr>
          <p:cNvSpPr txBox="1"/>
          <p:nvPr/>
        </p:nvSpPr>
        <p:spPr>
          <a:xfrm>
            <a:off x="321761" y="1215235"/>
            <a:ext cx="2467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b="1" dirty="0"/>
              <a:t>S</a:t>
            </a:r>
            <a:r>
              <a:rPr lang="zh-TW" altLang="zh-TW" b="1" dirty="0"/>
              <a:t>et </a:t>
            </a:r>
            <a:r>
              <a:rPr lang="en-US" altLang="zh-TW" b="1" dirty="0" err="1"/>
              <a:t>glm_DIR</a:t>
            </a:r>
            <a:endParaRPr lang="en-US" altLang="zh-TW" b="1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6CB9259D-0DDC-41C7-6F8D-077F4499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30" y="1944103"/>
            <a:ext cx="7997519" cy="4595446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06C39F30-FF5F-8942-D309-7C7D29EDCA90}"/>
              </a:ext>
            </a:extLst>
          </p:cNvPr>
          <p:cNvSpPr txBox="1"/>
          <p:nvPr/>
        </p:nvSpPr>
        <p:spPr>
          <a:xfrm>
            <a:off x="5467964" y="3472222"/>
            <a:ext cx="5873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 gl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m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_DIR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 to 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sample_code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thirdparty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glm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cmake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/</a:t>
            </a:r>
            <a:r>
              <a:rPr lang="en-US" altLang="zh-TW" sz="2000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glm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27380F4-C904-D3C3-CD39-32E2527B1125}"/>
              </a:ext>
            </a:extLst>
          </p:cNvPr>
          <p:cNvSpPr/>
          <p:nvPr/>
        </p:nvSpPr>
        <p:spPr>
          <a:xfrm>
            <a:off x="4455916" y="3043029"/>
            <a:ext cx="4612718" cy="17122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形 22" descr="徽章 1 外框">
            <a:extLst>
              <a:ext uri="{FF2B5EF4-FFF2-40B4-BE49-F238E27FC236}">
                <a16:creationId xmlns:a16="http://schemas.microsoft.com/office/drawing/2014/main" id="{96318672-C2B9-40B7-4B57-861EC3787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781" y="3343054"/>
            <a:ext cx="720000" cy="72000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F94A682-C8ED-8080-4057-5CAA866A12BA}"/>
              </a:ext>
            </a:extLst>
          </p:cNvPr>
          <p:cNvSpPr txBox="1"/>
          <p:nvPr/>
        </p:nvSpPr>
        <p:spPr>
          <a:xfrm>
            <a:off x="4108528" y="4232806"/>
            <a:ext cx="7232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c</a:t>
            </a:r>
            <a:r>
              <a:rPr lang="zh-TW" altLang="zh-TW" sz="2000" dirty="0">
                <a:solidFill>
                  <a:srgbClr val="FF0000"/>
                </a:solidFill>
              </a:rPr>
              <a:t>lick Configure again. Once it completes successfully, click Generate</a:t>
            </a:r>
          </a:p>
        </p:txBody>
      </p:sp>
      <p:pic>
        <p:nvPicPr>
          <p:cNvPr id="31" name="圖形 30" descr="識別證 外框">
            <a:extLst>
              <a:ext uri="{FF2B5EF4-FFF2-40B4-BE49-F238E27FC236}">
                <a16:creationId xmlns:a16="http://schemas.microsoft.com/office/drawing/2014/main" id="{CF419426-4FD1-F1B1-A2D3-6A21FF2B2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2759" y="4549485"/>
            <a:ext cx="720000" cy="720000"/>
          </a:xfrm>
          <a:prstGeom prst="rect">
            <a:avLst/>
          </a:prstGeom>
        </p:spPr>
      </p:pic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16520427-1DEC-257A-19DB-0758F54F0D6A}"/>
              </a:ext>
            </a:extLst>
          </p:cNvPr>
          <p:cNvSpPr/>
          <p:nvPr/>
        </p:nvSpPr>
        <p:spPr>
          <a:xfrm>
            <a:off x="4438855" y="5011862"/>
            <a:ext cx="3466670" cy="1290021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5D72832-90FB-E911-CABF-6D403C2434D9}"/>
              </a:ext>
            </a:extLst>
          </p:cNvPr>
          <p:cNvSpPr txBox="1"/>
          <p:nvPr/>
        </p:nvSpPr>
        <p:spPr>
          <a:xfrm>
            <a:off x="7970085" y="5297524"/>
            <a:ext cx="39714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zh-TW" altLang="zh-TW" sz="2000" dirty="0"/>
              <a:t>If there is still an error, carefully read the error message and try to fix it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15EB052-7508-9716-D825-94AC104E112A}"/>
              </a:ext>
            </a:extLst>
          </p:cNvPr>
          <p:cNvSpPr/>
          <p:nvPr/>
        </p:nvSpPr>
        <p:spPr>
          <a:xfrm>
            <a:off x="4448329" y="4800591"/>
            <a:ext cx="511767" cy="21778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FF6AE5F-3162-FE32-A8C2-C3FEE06D2996}"/>
              </a:ext>
            </a:extLst>
          </p:cNvPr>
          <p:cNvSpPr/>
          <p:nvPr/>
        </p:nvSpPr>
        <p:spPr>
          <a:xfrm>
            <a:off x="4981722" y="4800591"/>
            <a:ext cx="511767" cy="21778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114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6366-B0BC-8D7B-8386-7AD47153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DCA7014-C0F0-28A1-F74C-7934ACCA6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40"/>
          <a:stretch>
            <a:fillRect/>
          </a:stretch>
        </p:blipFill>
        <p:spPr>
          <a:xfrm>
            <a:off x="2763346" y="1934867"/>
            <a:ext cx="6665308" cy="456118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D91A176-C65A-7E66-D0CF-7827B27145A8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2E43A06-DE8D-432E-81F8-3873DA7D1C02}"/>
              </a:ext>
            </a:extLst>
          </p:cNvPr>
          <p:cNvSpPr txBox="1"/>
          <p:nvPr/>
        </p:nvSpPr>
        <p:spPr>
          <a:xfrm>
            <a:off x="321761" y="1215235"/>
            <a:ext cx="6224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Open </a:t>
            </a:r>
            <a:r>
              <a:rPr lang="en-US" altLang="zh-TW" sz="2400" b="1" kern="12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sample_code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/build/Homework01.slnx</a:t>
            </a:r>
          </a:p>
        </p:txBody>
      </p:sp>
    </p:spTree>
    <p:extLst>
      <p:ext uri="{BB962C8B-B14F-4D97-AF65-F5344CB8AC3E}">
        <p14:creationId xmlns:p14="http://schemas.microsoft.com/office/powerpoint/2010/main" val="357237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828E-D486-F205-A886-9E602480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AF299F3-49B0-EA13-79E1-DF1A66D2144E}"/>
              </a:ext>
            </a:extLst>
          </p:cNvPr>
          <p:cNvSpPr txBox="1"/>
          <p:nvPr/>
        </p:nvSpPr>
        <p:spPr>
          <a:xfrm>
            <a:off x="2411556" y="126271"/>
            <a:ext cx="7368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Modification</a:t>
            </a:r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 Sample Code</a:t>
            </a:r>
            <a:endParaRPr lang="zh-TW" altLang="en-US" sz="48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j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46654A-EAFD-252F-7D74-8248354B9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967" y="1885929"/>
            <a:ext cx="4424066" cy="4845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57FE222-05B1-A511-0556-B9E69F4B1DB9}"/>
              </a:ext>
            </a:extLst>
          </p:cNvPr>
          <p:cNvSpPr txBox="1"/>
          <p:nvPr/>
        </p:nvSpPr>
        <p:spPr>
          <a:xfrm>
            <a:off x="321761" y="1215235"/>
            <a:ext cx="5497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Edit Sample Code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4D554D7-E34B-A768-5D90-7AD91CA8F87D}"/>
              </a:ext>
            </a:extLst>
          </p:cNvPr>
          <p:cNvSpPr txBox="1"/>
          <p:nvPr/>
        </p:nvSpPr>
        <p:spPr>
          <a:xfrm>
            <a:off x="3614613" y="1276790"/>
            <a:ext cx="49627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p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lease refer to the </a:t>
            </a:r>
            <a:r>
              <a:rPr lang="zh-TW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earlier slide</a:t>
            </a:r>
            <a:r>
              <a:rPr lang="zh-TW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 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50"/>
                </a:solidFill>
                <a:latin typeface="+mj-lt"/>
                <a:ea typeface="+mn-ea"/>
                <a:cs typeface="+mn-cs"/>
              </a:rPr>
              <a:t>for instructions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00B05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44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9CD5-AAE6-9051-8179-833ADD1E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57583142-06C0-1A1D-C999-8A7D2F0F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142"/>
          <a:stretch>
            <a:fillRect/>
          </a:stretch>
        </p:blipFill>
        <p:spPr>
          <a:xfrm>
            <a:off x="2466469" y="2234986"/>
            <a:ext cx="7259063" cy="348001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202F512-703A-3EFF-940A-0C05CCCD9B84}"/>
              </a:ext>
            </a:extLst>
          </p:cNvPr>
          <p:cNvSpPr txBox="1"/>
          <p:nvPr/>
        </p:nvSpPr>
        <p:spPr>
          <a:xfrm>
            <a:off x="321762" y="1215235"/>
            <a:ext cx="3744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Switch to Release mode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8C0AA30-037D-6685-5FB6-B9C173A38618}"/>
              </a:ext>
            </a:extLst>
          </p:cNvPr>
          <p:cNvSpPr/>
          <p:nvPr/>
        </p:nvSpPr>
        <p:spPr>
          <a:xfrm>
            <a:off x="6189519" y="2556163"/>
            <a:ext cx="1354281" cy="189114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A8186C-B429-9F45-9F6E-0520696D6ACA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</p:spTree>
    <p:extLst>
      <p:ext uri="{BB962C8B-B14F-4D97-AF65-F5344CB8AC3E}">
        <p14:creationId xmlns:p14="http://schemas.microsoft.com/office/powerpoint/2010/main" val="2696125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6920-65A9-7DB6-F9BA-28D1D1DC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5CB0C71-E79A-4AF0-43AC-9175B447AA37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Build the sample code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855D784-13D5-D1EF-93EA-18401224E03B}"/>
              </a:ext>
            </a:extLst>
          </p:cNvPr>
          <p:cNvSpPr txBox="1"/>
          <p:nvPr/>
        </p:nvSpPr>
        <p:spPr>
          <a:xfrm>
            <a:off x="321761" y="1215234"/>
            <a:ext cx="5958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Right-click </a:t>
            </a: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Homework01</a:t>
            </a:r>
            <a:r>
              <a:rPr lang="zh-TW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and select Build</a:t>
            </a:r>
            <a:endParaRPr lang="en-US" altLang="zh-TW" sz="2400" b="1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DECBB4E-F030-3B56-C2EC-12282204C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18" y="1957303"/>
            <a:ext cx="5958965" cy="4613393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C4FE3DD-EC99-02CD-E35E-5070221D4835}"/>
              </a:ext>
            </a:extLst>
          </p:cNvPr>
          <p:cNvSpPr/>
          <p:nvPr/>
        </p:nvSpPr>
        <p:spPr>
          <a:xfrm>
            <a:off x="3212123" y="4291707"/>
            <a:ext cx="1818168" cy="24182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7771526-9C2B-06AD-B854-BF0ED8C115E1}"/>
              </a:ext>
            </a:extLst>
          </p:cNvPr>
          <p:cNvSpPr/>
          <p:nvPr/>
        </p:nvSpPr>
        <p:spPr>
          <a:xfrm>
            <a:off x="5454943" y="2785145"/>
            <a:ext cx="3421201" cy="24182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C1D49FCD-BB1B-871B-A799-A556B8692FD4}"/>
              </a:ext>
            </a:extLst>
          </p:cNvPr>
          <p:cNvCxnSpPr>
            <a:cxnSpLocks/>
          </p:cNvCxnSpPr>
          <p:nvPr/>
        </p:nvCxnSpPr>
        <p:spPr>
          <a:xfrm flipV="1">
            <a:off x="4111971" y="3008494"/>
            <a:ext cx="1312985" cy="1277815"/>
          </a:xfrm>
          <a:prstGeom prst="bentConnector3">
            <a:avLst>
              <a:gd name="adj1" fmla="val 5178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388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BD7A-1B3F-E5CD-7054-500F60A0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4C11581-E9A5-6EF7-3A23-8D4E6A74E887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Run the sample code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0AB25E-FC67-E936-0390-D4D3FD97E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47" y="2302922"/>
            <a:ext cx="10748652" cy="272511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29F9C49-17B2-A5B8-6AC7-18A54B80BA6C}"/>
              </a:ext>
            </a:extLst>
          </p:cNvPr>
          <p:cNvSpPr txBox="1"/>
          <p:nvPr/>
        </p:nvSpPr>
        <p:spPr>
          <a:xfrm>
            <a:off x="321761" y="1215235"/>
            <a:ext cx="2624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1. Run in terminal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55AF7D-9E43-95A0-9E39-3182BD936203}"/>
              </a:ext>
            </a:extLst>
          </p:cNvPr>
          <p:cNvSpPr txBox="1"/>
          <p:nvPr/>
        </p:nvSpPr>
        <p:spPr>
          <a:xfrm>
            <a:off x="721674" y="1832671"/>
            <a:ext cx="9890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If the build is successful, you will find 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Homework01.exe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 under sample_code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/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build/bin/Release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52ABC8-BC0B-E6E0-DC34-4D2F4AEEE12B}"/>
              </a:ext>
            </a:extLst>
          </p:cNvPr>
          <p:cNvSpPr txBox="1"/>
          <p:nvPr/>
        </p:nvSpPr>
        <p:spPr>
          <a:xfrm>
            <a:off x="721675" y="5098175"/>
            <a:ext cx="11313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Run the following command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  <a:p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.\Homework01.exe "../../../resources/model/Utah_teapot_(solid)_texture.obj" "../../../resources/texture/uv.png" "../../../src/Shader/BasicVertexShader.vs.glsl" "../../../src/Shader/BasicFragmentShader.fs.glsl"</a:t>
            </a:r>
            <a:endParaRPr lang="zh-TW" altLang="en-US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4E17DEE-668D-A6C5-42C0-C669D55A62AD}"/>
              </a:ext>
            </a:extLst>
          </p:cNvPr>
          <p:cNvSpPr txBox="1"/>
          <p:nvPr/>
        </p:nvSpPr>
        <p:spPr>
          <a:xfrm>
            <a:off x="721674" y="6056984"/>
            <a:ext cx="89026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TW" dirty="0">
                <a:solidFill>
                  <a:srgbClr val="00B050"/>
                </a:solidFill>
              </a:rPr>
              <a:t>Arguments: </a:t>
            </a:r>
            <a:r>
              <a:rPr lang="zh-TW" altLang="zh-TW" dirty="0">
                <a:solidFill>
                  <a:srgbClr val="00B050"/>
                </a:solidFill>
              </a:rPr>
              <a:t>" </a:t>
            </a:r>
            <a:r>
              <a:rPr lang="en-US" altLang="zh-TW" dirty="0" err="1">
                <a:solidFill>
                  <a:srgbClr val="00B050"/>
                </a:solidFill>
              </a:rPr>
              <a:t>model_path</a:t>
            </a:r>
            <a:r>
              <a:rPr lang="zh-TW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zh-TW" altLang="zh-TW" dirty="0">
                <a:solidFill>
                  <a:srgbClr val="00B050"/>
                </a:solidFill>
              </a:rPr>
              <a:t>" </a:t>
            </a:r>
            <a:r>
              <a:rPr lang="en-US" altLang="zh-TW" dirty="0" err="1">
                <a:solidFill>
                  <a:srgbClr val="00B050"/>
                </a:solidFill>
              </a:rPr>
              <a:t>texture_path</a:t>
            </a:r>
            <a:r>
              <a:rPr lang="zh-TW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zh-TW" altLang="zh-TW" dirty="0">
                <a:solidFill>
                  <a:srgbClr val="00B050"/>
                </a:solidFill>
              </a:rPr>
              <a:t>" </a:t>
            </a:r>
            <a:r>
              <a:rPr lang="en-US" altLang="zh-TW" dirty="0" err="1">
                <a:solidFill>
                  <a:srgbClr val="00B050"/>
                </a:solidFill>
              </a:rPr>
              <a:t>VertexShader_path</a:t>
            </a:r>
            <a:r>
              <a:rPr lang="zh-TW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r>
              <a:rPr lang="zh-TW" altLang="zh-TW" dirty="0">
                <a:solidFill>
                  <a:srgbClr val="00B050"/>
                </a:solidFill>
              </a:rPr>
              <a:t>" </a:t>
            </a:r>
            <a:r>
              <a:rPr lang="en-US" altLang="zh-TW" dirty="0" err="1">
                <a:solidFill>
                  <a:srgbClr val="00B050"/>
                </a:solidFill>
              </a:rPr>
              <a:t>Fragment_path</a:t>
            </a:r>
            <a:r>
              <a:rPr lang="zh-TW" altLang="zh-TW" dirty="0">
                <a:solidFill>
                  <a:srgbClr val="00B050"/>
                </a:solidFill>
              </a:rPr>
              <a:t> "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728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B8DE-A8B7-80EC-0F38-8512BA7F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8C7FB44-4899-6BF7-3102-F72C91AD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08" y="2171223"/>
            <a:ext cx="4231569" cy="46066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DCB8578-064F-7B4E-68DD-FD425A831B6E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Run the sample code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DF74F50-2426-6950-0A97-EF8364547787}"/>
              </a:ext>
            </a:extLst>
          </p:cNvPr>
          <p:cNvSpPr txBox="1"/>
          <p:nvPr/>
        </p:nvSpPr>
        <p:spPr>
          <a:xfrm>
            <a:off x="321761" y="1215235"/>
            <a:ext cx="320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2. Run in Visual Studio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111311A-A92C-F287-6308-B6D64CC290F5}"/>
              </a:ext>
            </a:extLst>
          </p:cNvPr>
          <p:cNvSpPr/>
          <p:nvPr/>
        </p:nvSpPr>
        <p:spPr>
          <a:xfrm>
            <a:off x="3766306" y="3986903"/>
            <a:ext cx="1818168" cy="24182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944DEE6-30CF-0B6E-ABEC-BB35BD9A9033}"/>
              </a:ext>
            </a:extLst>
          </p:cNvPr>
          <p:cNvSpPr/>
          <p:nvPr/>
        </p:nvSpPr>
        <p:spPr>
          <a:xfrm>
            <a:off x="5805928" y="5380562"/>
            <a:ext cx="2044981" cy="24182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762FE910-AFE5-9FA8-F43A-8F7A3FC68FB3}"/>
              </a:ext>
            </a:extLst>
          </p:cNvPr>
          <p:cNvCxnSpPr>
            <a:cxnSpLocks/>
          </p:cNvCxnSpPr>
          <p:nvPr/>
        </p:nvCxnSpPr>
        <p:spPr>
          <a:xfrm>
            <a:off x="4498106" y="4252740"/>
            <a:ext cx="1289345" cy="123865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EAF5CB-E0E5-D296-FCA7-9FA0E0F64BC1}"/>
              </a:ext>
            </a:extLst>
          </p:cNvPr>
          <p:cNvSpPr txBox="1"/>
          <p:nvPr/>
        </p:nvSpPr>
        <p:spPr>
          <a:xfrm>
            <a:off x="637308" y="170091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Right-click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Homework01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 and select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 as Startup Project</a:t>
            </a:r>
          </a:p>
        </p:txBody>
      </p:sp>
    </p:spTree>
    <p:extLst>
      <p:ext uri="{BB962C8B-B14F-4D97-AF65-F5344CB8AC3E}">
        <p14:creationId xmlns:p14="http://schemas.microsoft.com/office/powerpoint/2010/main" val="1755118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6150-FE56-E98C-9D41-7BC7AF74B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09D897C-E402-B9C0-4E04-D8B000F2958F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Run the sample code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1F0D7C-E04E-18A7-D83F-7337C2EF8924}"/>
              </a:ext>
            </a:extLst>
          </p:cNvPr>
          <p:cNvSpPr txBox="1"/>
          <p:nvPr/>
        </p:nvSpPr>
        <p:spPr>
          <a:xfrm>
            <a:off x="321761" y="1215235"/>
            <a:ext cx="320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en-US" altLang="zh-TW" sz="24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rPr>
              <a:t>2. Run in Visual Studio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559830-5561-5516-5561-932BF7B057E1}"/>
              </a:ext>
            </a:extLst>
          </p:cNvPr>
          <p:cNvSpPr txBox="1"/>
          <p:nvPr/>
        </p:nvSpPr>
        <p:spPr>
          <a:xfrm>
            <a:off x="637308" y="1700917"/>
            <a:ext cx="4998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Right-click 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Homework01</a:t>
            </a: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 and select</a:t>
            </a:r>
            <a:r>
              <a: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 Properties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97271D-B1CB-501B-4478-751F82E6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87" y="2074893"/>
            <a:ext cx="7471508" cy="4073348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98024BC6-064B-442D-35A4-83E5A9EF4DA6}"/>
              </a:ext>
            </a:extLst>
          </p:cNvPr>
          <p:cNvSpPr/>
          <p:nvPr/>
        </p:nvSpPr>
        <p:spPr>
          <a:xfrm>
            <a:off x="2367469" y="2890641"/>
            <a:ext cx="1310169" cy="20135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A15A2D2-308D-68E2-6C92-9DF197E979B5}"/>
              </a:ext>
            </a:extLst>
          </p:cNvPr>
          <p:cNvSpPr/>
          <p:nvPr/>
        </p:nvSpPr>
        <p:spPr>
          <a:xfrm>
            <a:off x="3694758" y="5958718"/>
            <a:ext cx="1875001" cy="1989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上彎 14">
            <a:extLst>
              <a:ext uri="{FF2B5EF4-FFF2-40B4-BE49-F238E27FC236}">
                <a16:creationId xmlns:a16="http://schemas.microsoft.com/office/drawing/2014/main" id="{50E1BE40-6C45-E70E-E7C9-A85F42D7DA86}"/>
              </a:ext>
            </a:extLst>
          </p:cNvPr>
          <p:cNvSpPr/>
          <p:nvPr/>
        </p:nvSpPr>
        <p:spPr>
          <a:xfrm rot="5400000">
            <a:off x="1754065" y="4240104"/>
            <a:ext cx="3056249" cy="760026"/>
          </a:xfrm>
          <a:prstGeom prst="bentUpArrow">
            <a:avLst>
              <a:gd name="adj1" fmla="val 8175"/>
              <a:gd name="adj2" fmla="val 10003"/>
              <a:gd name="adj3" fmla="val 211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4C996B1-368C-3735-2051-21E6CB54E241}"/>
              </a:ext>
            </a:extLst>
          </p:cNvPr>
          <p:cNvSpPr/>
          <p:nvPr/>
        </p:nvSpPr>
        <p:spPr>
          <a:xfrm>
            <a:off x="5529892" y="3091051"/>
            <a:ext cx="994513" cy="16394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2955A16-76D5-0CC9-F49D-DF0C8E1B3DD1}"/>
              </a:ext>
            </a:extLst>
          </p:cNvPr>
          <p:cNvSpPr/>
          <p:nvPr/>
        </p:nvSpPr>
        <p:spPr>
          <a:xfrm>
            <a:off x="6578425" y="3264424"/>
            <a:ext cx="3223970" cy="16394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31EB7EA-A4FB-42F4-38DB-3BFD1F3AFF82}"/>
              </a:ext>
            </a:extLst>
          </p:cNvPr>
          <p:cNvSpPr txBox="1"/>
          <p:nvPr/>
        </p:nvSpPr>
        <p:spPr>
          <a:xfrm>
            <a:off x="5494343" y="3467731"/>
            <a:ext cx="4366770" cy="707886"/>
          </a:xfrm>
          <a:prstGeom prst="rect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tx2"/>
              </a:buClr>
            </a:pPr>
            <a:r>
              <a:rPr lang="zh-TW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latin typeface="+mj-lt"/>
                <a:ea typeface="+mn-ea"/>
                <a:cs typeface="+mn-cs"/>
              </a:rPr>
              <a:t>Click Debugging and enter the following arguments in the Command Arguments </a:t>
            </a:r>
            <a:endParaRPr lang="en-US" altLang="zh-TW" sz="2000" kern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00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E68ED85-1628-C2A6-D036-0FCCAB55210E}"/>
              </a:ext>
            </a:extLst>
          </p:cNvPr>
          <p:cNvSpPr txBox="1"/>
          <p:nvPr/>
        </p:nvSpPr>
        <p:spPr>
          <a:xfrm>
            <a:off x="1336186" y="6203038"/>
            <a:ext cx="95196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tx2"/>
              </a:buClr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dirty="0"/>
              <a:t>"../../resources/model/Utah_teapot_(solid)_texture.obj" "../../resources/texture/uv.png" "../../src/Shader/BasicVertexShader.vs.glsl" "../../src/Shader/BasicFragmentShader.fs.glsl"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E739740-35E5-E0C7-1696-439721A6ED16}"/>
              </a:ext>
            </a:extLst>
          </p:cNvPr>
          <p:cNvSpPr txBox="1"/>
          <p:nvPr/>
        </p:nvSpPr>
        <p:spPr>
          <a:xfrm>
            <a:off x="5694363" y="2035532"/>
            <a:ext cx="3966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tx2"/>
              </a:buClr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zh-TW" dirty="0">
                <a:solidFill>
                  <a:srgbClr val="FFFF00"/>
                </a:solidFill>
              </a:rPr>
              <a:t>since debugging starts from build/src</a:t>
            </a:r>
            <a:endParaRPr lang="zh-TW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126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5FAA-9BB4-ACD6-7B19-C7DAEF8F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4D00973-7926-B778-F3F4-B23A031C94B4}"/>
              </a:ext>
            </a:extLst>
          </p:cNvPr>
          <p:cNvSpPr txBox="1"/>
          <p:nvPr/>
        </p:nvSpPr>
        <p:spPr>
          <a:xfrm>
            <a:off x="3048000" y="1262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8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j-ea"/>
              </a:rPr>
              <a:t>Linux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FA805FC9-569D-EF40-FC2A-C0F29787A121}"/>
              </a:ext>
            </a:extLst>
          </p:cNvPr>
          <p:cNvGrpSpPr/>
          <p:nvPr/>
        </p:nvGrpSpPr>
        <p:grpSpPr>
          <a:xfrm>
            <a:off x="919074" y="1183946"/>
            <a:ext cx="10353852" cy="5632311"/>
            <a:chOff x="321761" y="1241096"/>
            <a:chExt cx="10353852" cy="5632311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2231EF7B-551E-7D7A-347B-2F513E3966BC}"/>
                </a:ext>
              </a:extLst>
            </p:cNvPr>
            <p:cNvSpPr txBox="1"/>
            <p:nvPr/>
          </p:nvSpPr>
          <p:spPr>
            <a:xfrm>
              <a:off x="321761" y="1241096"/>
              <a:ext cx="6579611" cy="5632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Install required dependencies</a:t>
              </a:r>
            </a:p>
            <a:p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sudo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apt update</a:t>
              </a:r>
            </a:p>
            <a:p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sudo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apt install build-essential 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cmake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libglfw3-dev 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libglm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-dev</a:t>
              </a:r>
            </a:p>
            <a:p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1. After extracting Hw1, enter the project directory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cd Hw1/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sample_code</a:t>
              </a:r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2. Create the build directory</a:t>
              </a:r>
              <a:endParaRPr lang="zh-TW" altLang="en-US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mkdir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-p build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cd build</a:t>
              </a:r>
            </a:p>
            <a:p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3. </a:t>
              </a:r>
              <a:r>
                <a:rPr lang="en-US" altLang="zh-TW" sz="2000" b="1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CMake</a:t>
              </a:r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configure</a:t>
              </a:r>
            </a:p>
            <a:p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cmake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..</a:t>
              </a:r>
            </a:p>
            <a:p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4. </a:t>
              </a:r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Modify the C++ source code</a:t>
              </a:r>
              <a:endParaRPr lang="en-US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endParaRPr lang="en-US" altLang="zh-TW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5. Compile</a:t>
              </a:r>
              <a:endParaRPr lang="zh-TW" altLang="en-US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cmake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--build .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5C7070C8-F5D9-F239-325D-054929775DE3}"/>
                </a:ext>
              </a:extLst>
            </p:cNvPr>
            <p:cNvSpPr txBox="1"/>
            <p:nvPr/>
          </p:nvSpPr>
          <p:spPr>
            <a:xfrm>
              <a:off x="4911435" y="4011085"/>
              <a:ext cx="5764178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6. Enter the executable directory</a:t>
              </a:r>
              <a:endParaRPr lang="zh-TW" altLang="en-US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cd bin</a:t>
              </a:r>
            </a:p>
            <a:p>
              <a:endParaRPr lang="en-US" altLang="zh-TW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b="1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# 7. Execute</a:t>
              </a:r>
              <a:endParaRPr lang="zh-TW" altLang="en-US" sz="2000" b="1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./Homework01 \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 "./resources/model/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Utah_teapot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_(solid)_texture.obj" \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 "./resources/texture/uv.png" \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 "./Shader/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BasicVertexShader.vs.glsl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" \</a:t>
              </a:r>
            </a:p>
            <a:p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  "./Shader/</a:t>
              </a:r>
              <a:r>
                <a:rPr lang="en-US" altLang="zh-TW" sz="2000" kern="1200" dirty="0" err="1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BasicFragmentShader.fs.glsl</a:t>
              </a:r>
              <a:r>
                <a:rPr lang="en-US" altLang="zh-TW" sz="2000" kern="1200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"</a:t>
              </a:r>
              <a:endParaRPr lang="zh-TW" alt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latin typeface="+mj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070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常用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5705</TotalTime>
  <Words>1689</Words>
  <Application>Microsoft Office PowerPoint</Application>
  <PresentationFormat>寬螢幕</PresentationFormat>
  <Paragraphs>207</Paragraphs>
  <Slides>37</Slides>
  <Notes>20</Notes>
  <HiddenSlides>3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1" baseType="lpstr">
      <vt:lpstr>Times New Roman</vt:lpstr>
      <vt:lpstr>Wingdings 2</vt:lpstr>
      <vt:lpstr>Arial</vt:lpstr>
      <vt:lpstr>石板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蔡昀臻</dc:creator>
  <cp:lastModifiedBy>梁家葳 LIANG,CHIA-WEI</cp:lastModifiedBy>
  <cp:revision>393</cp:revision>
  <dcterms:created xsi:type="dcterms:W3CDTF">2020-08-03T02:09:59Z</dcterms:created>
  <dcterms:modified xsi:type="dcterms:W3CDTF">2026-09-21T05:32:41Z</dcterms:modified>
</cp:coreProperties>
</file>